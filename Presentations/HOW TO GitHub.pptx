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  <p:sldId id="263" r:id="rId7"/>
    <p:sldId id="266" r:id="rId8"/>
    <p:sldId id="267" r:id="rId9"/>
    <p:sldId id="268" r:id="rId10"/>
    <p:sldId id="269" r:id="rId11"/>
    <p:sldId id="271" r:id="rId12"/>
    <p:sldId id="272" r:id="rId13"/>
    <p:sldId id="270" r:id="rId14"/>
    <p:sldId id="264" r:id="rId15"/>
    <p:sldId id="273" r:id="rId16"/>
    <p:sldId id="265" r:id="rId17"/>
    <p:sldId id="262" r:id="rId18"/>
    <p:sldId id="261" r:id="rId19"/>
    <p:sldId id="274" r:id="rId20"/>
    <p:sldId id="275" r:id="rId21"/>
    <p:sldId id="278" r:id="rId22"/>
    <p:sldId id="280" r:id="rId23"/>
    <p:sldId id="279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96" d="100"/>
          <a:sy n="96" d="100"/>
        </p:scale>
        <p:origin x="389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9B61A-9DD1-7942-81D4-A625F747A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EDB24-93D6-2E23-187D-0D9492F13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A81A7-A8D2-D01A-C9D8-84B2CE6EE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DE9D-BDB0-418F-A8BF-C0038B296BD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25DC3-0A5E-5829-1BE0-F623D9938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360C8-6D07-9508-2181-5B0E708E9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66D-F7C9-4DBA-8756-748F116A38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88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10969-05BF-F428-6FC8-8C2C5A558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4E4F3-1B26-61D0-5FB3-82E78D5A6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DF7AD-7501-75F3-9E54-D0F6DF2CA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DE9D-BDB0-418F-A8BF-C0038B296BD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2A005-1921-3DDE-BB21-801D874E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92B2D-FB23-A7D6-5346-823901F6C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66D-F7C9-4DBA-8756-748F116A38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487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FC193-C771-A565-2844-D7484D72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1187C-89E0-E030-70E2-D57109A48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47D8A-1AD0-C9D9-66F5-3AC84237F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DE9D-BDB0-418F-A8BF-C0038B296BD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1CA86-49F5-E5FE-044F-D354610C1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EEB14-9AFB-DDC5-E42C-D58EC42F9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66D-F7C9-4DBA-8756-748F116A38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73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EBE4-5323-0C7D-43AC-42A15760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DC777-C5D8-64DE-BDC3-0540AAADE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0BDDD-D6E9-D41A-D343-809B91ED8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B0013-1215-D815-071C-9C105D4E2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DE9D-BDB0-418F-A8BF-C0038B296BD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E9156-F27E-4B4F-7105-7B1CC4C0C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7FDB3-CA1A-0418-3669-50D4B34B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66D-F7C9-4DBA-8756-748F116A38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003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193A-ADE3-E9F4-24AC-D4164D89D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917E-7D2D-7607-8FAE-F5319ED1F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EE306-D9AF-DF57-110D-99FD193A4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2971B6-C5FC-79A6-9DDF-F0F926111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722223-2CD0-0710-8C80-0990E9936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03ABCE-AB56-16C1-B6CB-B9935A42B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DE9D-BDB0-418F-A8BF-C0038B296BD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BC57AF-ED6D-524E-CFF4-96D6CB12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4E6AF-0FAC-8EF0-9585-B3ED0C05C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66D-F7C9-4DBA-8756-748F116A38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26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EA1EF-28D9-A697-ADE5-49B3C6B2E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1C5DB-5190-92D7-D666-FB2B967A6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DE9D-BDB0-418F-A8BF-C0038B296BD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4694D-CC5B-BBFB-C2BC-CCE070B6E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69F6E-C90C-ACC8-B5F8-BFE32AD84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66D-F7C9-4DBA-8756-748F116A38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4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60D2C-0D5D-76BD-0A85-3CAE22B35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DE9D-BDB0-418F-A8BF-C0038B296BD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C1FE1-5684-EACC-0698-8516CDED9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D175E-7E32-FD94-3B4E-E59752FA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66D-F7C9-4DBA-8756-748F116A38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21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B2FD-A3C8-4C07-3EBB-B09603F1C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0E0DA-8C5E-1332-250E-672186EE4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EE1D3-C441-76B9-7FF1-BEBBBB11D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3565C-AA3D-3D04-7A4B-6FD97EC6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DE9D-BDB0-418F-A8BF-C0038B296BD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E4F0D-0D42-BE81-C4D3-A8D9D5B10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242D0-EF1B-D043-FBB0-343FD9F9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66D-F7C9-4DBA-8756-748F116A38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05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1C41C-D24E-AEBE-0ACC-2A8CC4799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45FF54-2B9A-9EDC-E45D-76E10D7D0F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D1994-8299-20BA-4EC2-810D42B73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C95C1-3FCD-7457-F9C0-CEF63CA4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DE9D-BDB0-418F-A8BF-C0038B296BD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85715-C028-CA48-28D5-BDA15218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0E093-0709-B6D5-81F7-A11430F4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66D-F7C9-4DBA-8756-748F116A38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560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6C44-4E9E-4C56-1FF6-EC3765BEA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56E59C-F592-1F57-A2C3-5FE469AF1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4B01B-8BBE-18F5-EA13-2C13BF1F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DE9D-BDB0-418F-A8BF-C0038B296BD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FE4DB-83E1-5EC0-65FF-BEECAD2E3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D442E-DC90-785E-EEFC-D474CADB0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66D-F7C9-4DBA-8756-748F116A38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688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0142B6-2950-3D26-8F4F-016810E6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4DA63-7277-7080-7EAA-E8ED2BF30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ABD26-C60C-40DA-66C4-E2178859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DE9D-BDB0-418F-A8BF-C0038B296BD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11BA4-3CF6-B739-D1D2-90D159CA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102B5-AD29-B917-6E9A-6C2DE0A02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66D-F7C9-4DBA-8756-748F116A38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308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7B3CB7-D60C-B2FB-4615-736914183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7C7BA-6C5A-647C-590B-B9D615D2A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1607D-42BA-5EDA-AACC-E5B3C473EA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74DE9D-BDB0-418F-A8BF-C0038B296BD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9E831-B29D-A3F4-C677-5B30F7D30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2F28A-A6F1-8FF6-AA22-A7EC6760A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E7B66D-F7C9-4DBA-8756-748F116A38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205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ithub.com/timonrosso87-ui/git-practice.git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timonrosso87-ui/git-practice.git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features a stylized black cat silhouette superimposed on a digital, neon blue background with subtle, abstract circuit-like lines and patterns, evoking a futuristic, tech-themed aesthetic.&#10;&#10;AI-generated content may be incorrect.">
            <a:extLst>
              <a:ext uri="{FF2B5EF4-FFF2-40B4-BE49-F238E27FC236}">
                <a16:creationId xmlns:a16="http://schemas.microsoft.com/office/drawing/2014/main" id="{7306D09A-785E-51D4-6F1C-8DAA1BC14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19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ub&#10;&#10;AI-generated content may be incorrect.">
            <a:extLst>
              <a:ext uri="{FF2B5EF4-FFF2-40B4-BE49-F238E27FC236}">
                <a16:creationId xmlns:a16="http://schemas.microsoft.com/office/drawing/2014/main" id="{6F6650EF-EBAA-319B-30B6-E867EE945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948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diagram illustrates a step-by-step process for setting up a local repository, committing code, and linking it to a remote repository for collaboration.&#10;&#10;AI-generated content may be incorrect.">
            <a:extLst>
              <a:ext uri="{FF2B5EF4-FFF2-40B4-BE49-F238E27FC236}">
                <a16:creationId xmlns:a16="http://schemas.microsoft.com/office/drawing/2014/main" id="{57132F27-10FB-8CC5-D45E-337B196C8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485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A8685-218F-00AF-16B3-57B0C3593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DB70-60F7-F970-7D41-0548A1E0F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5" y="94841"/>
            <a:ext cx="11226788" cy="1074082"/>
          </a:xfrm>
        </p:spPr>
        <p:txBody>
          <a:bodyPr>
            <a:normAutofit/>
          </a:bodyPr>
          <a:lstStyle/>
          <a:p>
            <a:r>
              <a:rPr lang="en-US" dirty="0"/>
              <a:t>How to Create a Working Directory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DDD6C-634C-ABF8-97CC-B28C89BE8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8166" y="1152780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Name: </a:t>
            </a:r>
            <a:r>
              <a:rPr lang="en-US" dirty="0"/>
              <a:t>Folder - Git-Practice</a:t>
            </a:r>
          </a:p>
          <a:p>
            <a:pPr algn="l"/>
            <a:r>
              <a:rPr lang="en-US" b="1" dirty="0"/>
              <a:t>Step #1: </a:t>
            </a:r>
            <a:r>
              <a:rPr lang="en-US" dirty="0"/>
              <a:t>Create a New File i.e. index.html</a:t>
            </a:r>
          </a:p>
          <a:p>
            <a:pPr algn="l"/>
            <a:r>
              <a:rPr lang="en-US" b="1" dirty="0"/>
              <a:t>Step#2: </a:t>
            </a:r>
            <a:r>
              <a:rPr lang="en-US" dirty="0"/>
              <a:t>Add some code</a:t>
            </a:r>
          </a:p>
        </p:txBody>
      </p:sp>
      <p:pic>
        <p:nvPicPr>
          <p:cNvPr id="5" name="Picture 4" descr="Hello, World!&#10;&#10;AI-generated content may be incorrect.">
            <a:extLst>
              <a:ext uri="{FF2B5EF4-FFF2-40B4-BE49-F238E27FC236}">
                <a16:creationId xmlns:a16="http://schemas.microsoft.com/office/drawing/2014/main" id="{6B70198D-FF72-535B-311D-4A7169D3E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270" y="2579716"/>
            <a:ext cx="7266359" cy="240639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FC96C376-E212-0123-E708-0045426F29A6}"/>
              </a:ext>
            </a:extLst>
          </p:cNvPr>
          <p:cNvSpPr txBox="1">
            <a:spLocks/>
          </p:cNvSpPr>
          <p:nvPr/>
        </p:nvSpPr>
        <p:spPr>
          <a:xfrm>
            <a:off x="598844" y="5695269"/>
            <a:ext cx="913912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/>
              <a:t>What is a Working Directory?</a:t>
            </a:r>
          </a:p>
          <a:p>
            <a:pPr algn="l"/>
            <a:r>
              <a:rPr lang="en-US" sz="1800" dirty="0"/>
              <a:t>Where your project lives on your computer.</a:t>
            </a:r>
          </a:p>
          <a:p>
            <a:pPr algn="l"/>
            <a:r>
              <a:rPr lang="en-US" sz="1800" dirty="0"/>
              <a:t>Your Playground to create, modifying and adding code.</a:t>
            </a:r>
            <a:endParaRPr lang="en-GB" sz="1800" dirty="0"/>
          </a:p>
        </p:txBody>
      </p:sp>
      <p:pic>
        <p:nvPicPr>
          <p:cNvPr id="8" name="Picture 7" descr="The image shows a computer screen with a file dialog, indicating the action of creating a new file.&#10;&#10;AI-generated content may be incorrect.">
            <a:extLst>
              <a:ext uri="{FF2B5EF4-FFF2-40B4-BE49-F238E27FC236}">
                <a16:creationId xmlns:a16="http://schemas.microsoft.com/office/drawing/2014/main" id="{5CE2AAAF-86B5-B7AA-80E2-34448A743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290" y="1643067"/>
            <a:ext cx="2555232" cy="68513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U&#10;&#10;AI-generated content may be incorrect.">
            <a:extLst>
              <a:ext uri="{FF2B5EF4-FFF2-40B4-BE49-F238E27FC236}">
                <a16:creationId xmlns:a16="http://schemas.microsoft.com/office/drawing/2014/main" id="{4EFD723E-E2E6-F0FB-778B-11C315D39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3270" y="5033696"/>
            <a:ext cx="2940661" cy="613984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C1779D99-CA6D-8D97-C48C-FF98A8A6BC58}"/>
              </a:ext>
            </a:extLst>
          </p:cNvPr>
          <p:cNvSpPr txBox="1">
            <a:spLocks/>
          </p:cNvSpPr>
          <p:nvPr/>
        </p:nvSpPr>
        <p:spPr>
          <a:xfrm>
            <a:off x="4941336" y="5237617"/>
            <a:ext cx="2309328" cy="410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/>
              <a:t>U means untracked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158574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0B91E-3E90-0E90-188C-98D39FD54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27C0B-AD99-015D-24FE-524C308AD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5" y="94841"/>
            <a:ext cx="11226788" cy="1074082"/>
          </a:xfrm>
        </p:spPr>
        <p:txBody>
          <a:bodyPr>
            <a:normAutofit/>
          </a:bodyPr>
          <a:lstStyle/>
          <a:p>
            <a:r>
              <a:rPr lang="en-US" dirty="0"/>
              <a:t>How to Initialize a Local Repository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E54C3-2330-559A-7FDA-E1B08FE86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535" y="1443299"/>
            <a:ext cx="9987095" cy="1655762"/>
          </a:xfrm>
        </p:spPr>
        <p:txBody>
          <a:bodyPr/>
          <a:lstStyle/>
          <a:p>
            <a:pPr algn="l"/>
            <a:r>
              <a:rPr lang="en-US" b="1" dirty="0"/>
              <a:t>Step #1: </a:t>
            </a:r>
            <a:r>
              <a:rPr lang="en-US" dirty="0">
                <a:solidFill>
                  <a:srgbClr val="0070C0"/>
                </a:solidFill>
              </a:rPr>
              <a:t>git status </a:t>
            </a:r>
            <a:r>
              <a:rPr lang="en-US" dirty="0"/>
              <a:t>– Shows an error because the file is NOT a Git Project</a:t>
            </a:r>
          </a:p>
          <a:p>
            <a:pPr algn="l"/>
            <a:r>
              <a:rPr lang="en-US" b="1" dirty="0"/>
              <a:t>Step #2: </a:t>
            </a:r>
            <a:r>
              <a:rPr lang="en-US" dirty="0">
                <a:solidFill>
                  <a:srgbClr val="0070C0"/>
                </a:solidFill>
              </a:rPr>
              <a:t>git </a:t>
            </a:r>
            <a:r>
              <a:rPr lang="en-US" dirty="0" err="1">
                <a:solidFill>
                  <a:srgbClr val="0070C0"/>
                </a:solidFill>
              </a:rPr>
              <a:t>init</a:t>
            </a:r>
            <a:endParaRPr lang="en-US" dirty="0">
              <a:solidFill>
                <a:srgbClr val="0070C0"/>
              </a:solidFill>
            </a:endParaRPr>
          </a:p>
          <a:p>
            <a:pPr algn="l"/>
            <a:r>
              <a:rPr lang="en-US" b="1" dirty="0">
                <a:highlight>
                  <a:srgbClr val="FFFF00"/>
                </a:highlight>
              </a:rPr>
              <a:t>NOTE: </a:t>
            </a:r>
            <a:r>
              <a:rPr lang="en-US" dirty="0">
                <a:highlight>
                  <a:srgbClr val="FFFF00"/>
                </a:highlight>
              </a:rPr>
              <a:t>At this point you have created a Staging Area and a Local Repository </a:t>
            </a:r>
          </a:p>
        </p:txBody>
      </p:sp>
      <p:pic>
        <p:nvPicPr>
          <p:cNvPr id="9" name="Picture 8" descr="git-practice.html&#10;&#10;AI-generated content may be incorrect.">
            <a:extLst>
              <a:ext uri="{FF2B5EF4-FFF2-40B4-BE49-F238E27FC236}">
                <a16:creationId xmlns:a16="http://schemas.microsoft.com/office/drawing/2014/main" id="{AD7FCD76-481E-AE52-230D-832DCA73E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873" y="3000741"/>
            <a:ext cx="4574593" cy="12820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0B7D1273-937F-6528-2662-23B52C23B466}"/>
              </a:ext>
            </a:extLst>
          </p:cNvPr>
          <p:cNvSpPr txBox="1">
            <a:spLocks/>
          </p:cNvSpPr>
          <p:nvPr/>
        </p:nvSpPr>
        <p:spPr>
          <a:xfrm>
            <a:off x="6489134" y="329192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/>
              <a:t>Find your Local Repository on your computer</a:t>
            </a:r>
          </a:p>
          <a:p>
            <a:pPr algn="l"/>
            <a:r>
              <a:rPr lang="en-US" sz="1600" dirty="0"/>
              <a:t>This PC &gt; Windows (C</a:t>
            </a:r>
            <a:r>
              <a:rPr lang="en-US" sz="1600" dirty="0">
                <a:sym typeface="Wingdings" panose="05000000000000000000" pitchFamily="2" charset="2"/>
              </a:rPr>
              <a:t>:) &gt; Users &gt; Timon &gt; git practice</a:t>
            </a:r>
            <a:endParaRPr lang="en-US" sz="1600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3B57451-F03D-E887-1D72-95B04B451E71}"/>
              </a:ext>
            </a:extLst>
          </p:cNvPr>
          <p:cNvSpPr txBox="1">
            <a:spLocks/>
          </p:cNvSpPr>
          <p:nvPr/>
        </p:nvSpPr>
        <p:spPr>
          <a:xfrm>
            <a:off x="1782873" y="4586820"/>
            <a:ext cx="998709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Step #3: </a:t>
            </a:r>
            <a:r>
              <a:rPr lang="en-US" dirty="0">
                <a:solidFill>
                  <a:srgbClr val="0070C0"/>
                </a:solidFill>
              </a:rPr>
              <a:t>git status </a:t>
            </a:r>
            <a:r>
              <a:rPr lang="en-US" dirty="0"/>
              <a:t>– Shows a file ready to commit</a:t>
            </a:r>
          </a:p>
        </p:txBody>
      </p:sp>
      <p:pic>
        <p:nvPicPr>
          <p:cNvPr id="14" name="Picture 13" descr="The image displays a Git command prompt with a list of untracked files, specifically 'index.html', indicating it has not been added to the repository's commit.&#10;&#10;AI-generated content may be incorrect.">
            <a:extLst>
              <a:ext uri="{FF2B5EF4-FFF2-40B4-BE49-F238E27FC236}">
                <a16:creationId xmlns:a16="http://schemas.microsoft.com/office/drawing/2014/main" id="{0E6EBA64-1879-F162-C1F4-20557B0E3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820" y="5140547"/>
            <a:ext cx="6115878" cy="95560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2900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25B0A-E961-FCEF-40AD-89D7B14A3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3B4AC-5F55-444F-92E5-1B1AA7856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5" y="94841"/>
            <a:ext cx="11226788" cy="1074082"/>
          </a:xfrm>
        </p:spPr>
        <p:txBody>
          <a:bodyPr>
            <a:normAutofit/>
          </a:bodyPr>
          <a:lstStyle/>
          <a:p>
            <a:r>
              <a:rPr lang="en-US" dirty="0"/>
              <a:t>How to Add files to Staging Area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308617-FCBB-9704-B829-FC3194F54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535" y="1443299"/>
            <a:ext cx="9987095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/>
              <a:t>Step #1: </a:t>
            </a:r>
            <a:r>
              <a:rPr lang="en-US" b="1" dirty="0">
                <a:solidFill>
                  <a:srgbClr val="0070C0"/>
                </a:solidFill>
              </a:rPr>
              <a:t>git add .</a:t>
            </a:r>
          </a:p>
          <a:p>
            <a:pPr algn="l"/>
            <a:r>
              <a:rPr lang="en-US" b="1" dirty="0">
                <a:highlight>
                  <a:srgbClr val="FFFF00"/>
                </a:highlight>
              </a:rPr>
              <a:t>Note: . Means the current directory – it will add all files untracked</a:t>
            </a:r>
          </a:p>
          <a:p>
            <a:pPr algn="l"/>
            <a:r>
              <a:rPr lang="en-US" b="1" dirty="0"/>
              <a:t>Step #2: git status</a:t>
            </a:r>
          </a:p>
          <a:p>
            <a:pPr algn="l"/>
            <a:r>
              <a:rPr lang="en-US" sz="2000" b="1" dirty="0">
                <a:highlight>
                  <a:srgbClr val="FFFF00"/>
                </a:highlight>
              </a:rPr>
              <a:t>Now the file is added to the Staging area</a:t>
            </a:r>
          </a:p>
        </p:txBody>
      </p:sp>
      <p:pic>
        <p:nvPicPr>
          <p:cNvPr id="5" name="Picture 4" descr="The image shows a text snippet from an HTML document, with a debugger console, terminal, and port listing, and a Git status message indicating untracked files.&#10;&#10;AI-generated content may be incorrect.">
            <a:extLst>
              <a:ext uri="{FF2B5EF4-FFF2-40B4-BE49-F238E27FC236}">
                <a16:creationId xmlns:a16="http://schemas.microsoft.com/office/drawing/2014/main" id="{057CD7CF-E905-7C6F-2738-5D17FF635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14600"/>
            <a:ext cx="4606677" cy="33845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C738299D-1C6A-AD0B-E35E-73FA385770AB}"/>
              </a:ext>
            </a:extLst>
          </p:cNvPr>
          <p:cNvSpPr txBox="1">
            <a:spLocks/>
          </p:cNvSpPr>
          <p:nvPr/>
        </p:nvSpPr>
        <p:spPr>
          <a:xfrm>
            <a:off x="833885" y="5513284"/>
            <a:ext cx="998709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 means </a:t>
            </a: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Added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algn="l"/>
            <a:r>
              <a:rPr lang="en-GB" sz="1600" dirty="0"/>
              <a:t>Git is now tracking index.html, and the file is STAGED —ready to be committed.</a:t>
            </a:r>
          </a:p>
        </p:txBody>
      </p:sp>
    </p:spTree>
    <p:extLst>
      <p:ext uri="{BB962C8B-B14F-4D97-AF65-F5344CB8AC3E}">
        <p14:creationId xmlns:p14="http://schemas.microsoft.com/office/powerpoint/2010/main" val="3352766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C2912-324D-A98B-B3C9-158B3DEE0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9D162-772E-6A1B-79A0-FC0C3B756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5" y="94841"/>
            <a:ext cx="11226788" cy="1074082"/>
          </a:xfrm>
        </p:spPr>
        <p:txBody>
          <a:bodyPr>
            <a:normAutofit/>
          </a:bodyPr>
          <a:lstStyle/>
          <a:p>
            <a:r>
              <a:rPr lang="en-US" dirty="0"/>
              <a:t>How to Make a Commit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B6A1B-04D7-4226-8ACA-1770602AB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2575" y="1273154"/>
            <a:ext cx="9987095" cy="165576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Step #1: </a:t>
            </a:r>
          </a:p>
          <a:p>
            <a:pPr algn="l"/>
            <a:r>
              <a:rPr lang="en-US" sz="2000" b="1" dirty="0">
                <a:solidFill>
                  <a:srgbClr val="0070C0"/>
                </a:solidFill>
              </a:rPr>
              <a:t>git commit –m “Creating a World </a:t>
            </a:r>
            <a:r>
              <a:rPr lang="en-US" sz="2000" b="1" dirty="0" err="1">
                <a:solidFill>
                  <a:srgbClr val="0070C0"/>
                </a:solidFill>
              </a:rPr>
              <a:t>World</a:t>
            </a:r>
            <a:r>
              <a:rPr lang="en-US" sz="2000" b="1" dirty="0">
                <a:solidFill>
                  <a:srgbClr val="0070C0"/>
                </a:solidFill>
              </a:rPr>
              <a:t> and adding a basic </a:t>
            </a:r>
            <a:r>
              <a:rPr lang="en-US" sz="2000" b="1" dirty="0" err="1">
                <a:solidFill>
                  <a:srgbClr val="0070C0"/>
                </a:solidFill>
              </a:rPr>
              <a:t>gitignore</a:t>
            </a:r>
            <a:r>
              <a:rPr lang="en-US" sz="2000" b="1" dirty="0">
                <a:solidFill>
                  <a:srgbClr val="0070C0"/>
                </a:solidFill>
              </a:rPr>
              <a:t> file”</a:t>
            </a:r>
          </a:p>
          <a:p>
            <a:pPr algn="l"/>
            <a:r>
              <a:rPr lang="en-US" sz="2000" b="1" dirty="0"/>
              <a:t>Step #2: </a:t>
            </a:r>
            <a:r>
              <a:rPr lang="en-US" sz="2000" b="1" dirty="0">
                <a:solidFill>
                  <a:srgbClr val="0070C0"/>
                </a:solidFill>
              </a:rPr>
              <a:t>git status</a:t>
            </a:r>
            <a:endParaRPr lang="en-US" sz="2000" b="1" dirty="0">
              <a:solidFill>
                <a:srgbClr val="0070C0"/>
              </a:solidFill>
              <a:highlight>
                <a:srgbClr val="FFFF00"/>
              </a:highlight>
            </a:endParaRPr>
          </a:p>
        </p:txBody>
      </p:sp>
      <p:pic>
        <p:nvPicPr>
          <p:cNvPr id="7" name="Picture 6" descr="The image shows a command line interface in a Windows Command Prompt, displaying the execution of a git command to commit changes, including the creation of a new 'Hello World' page and a basic .gitignore file.&#10;&#10;AI-generated content may be incorrect.">
            <a:extLst>
              <a:ext uri="{FF2B5EF4-FFF2-40B4-BE49-F238E27FC236}">
                <a16:creationId xmlns:a16="http://schemas.microsoft.com/office/drawing/2014/main" id="{95FA4821-38F1-60B4-A736-359DE06D5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29" y="2809369"/>
            <a:ext cx="11267341" cy="149680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The image displays a command prompt in a Windows command line, showing the status of a Git repository where there are no changes to commit and the working directory is clean.&#10;&#10;AI-generated content may be incorrect.">
            <a:extLst>
              <a:ext uri="{FF2B5EF4-FFF2-40B4-BE49-F238E27FC236}">
                <a16:creationId xmlns:a16="http://schemas.microsoft.com/office/drawing/2014/main" id="{070A1A38-A321-9CB7-1E0E-0C87CBBDF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85" y="4537096"/>
            <a:ext cx="4857750" cy="10477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The image displays a snippet of a file structure, specifically showing the 'practice.txt' file, a '.gitignore' file, and a placeholder for a 'index.html' file, likely related to a Git repository.&#10;&#10;AI-generated content may be incorrect.">
            <a:extLst>
              <a:ext uri="{FF2B5EF4-FFF2-40B4-BE49-F238E27FC236}">
                <a16:creationId xmlns:a16="http://schemas.microsoft.com/office/drawing/2014/main" id="{0AEBB949-B07F-228B-A781-D863E6199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979" y="4695563"/>
            <a:ext cx="4086225" cy="14382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815496F6-634E-DAB3-B81C-AA2E02EC2DC0}"/>
              </a:ext>
            </a:extLst>
          </p:cNvPr>
          <p:cNvSpPr txBox="1">
            <a:spLocks/>
          </p:cNvSpPr>
          <p:nvPr/>
        </p:nvSpPr>
        <p:spPr>
          <a:xfrm>
            <a:off x="694329" y="5815770"/>
            <a:ext cx="998709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highlight>
                  <a:srgbClr val="FFFF00"/>
                </a:highlight>
              </a:rPr>
              <a:t>NOTE: </a:t>
            </a:r>
          </a:p>
          <a:p>
            <a:pPr algn="l"/>
            <a:r>
              <a:rPr lang="en-US" sz="1800" b="1" dirty="0"/>
              <a:t>This means nothing is in the Staging Area that needs to be committed</a:t>
            </a:r>
            <a:endParaRPr lang="en-US" sz="1600" b="1" dirty="0">
              <a:solidFill>
                <a:srgbClr val="0070C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69754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01D05-B494-4BB1-9118-017D8FC5D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923F-56D2-C336-3CE8-19D452622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5" y="94841"/>
            <a:ext cx="11226788" cy="1074082"/>
          </a:xfrm>
        </p:spPr>
        <p:txBody>
          <a:bodyPr>
            <a:normAutofit/>
          </a:bodyPr>
          <a:lstStyle/>
          <a:p>
            <a:r>
              <a:rPr lang="en-US" dirty="0"/>
              <a:t>How to see what is Committed?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9D0ED-587C-F3E2-5617-18A0952A8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2575" y="1273154"/>
            <a:ext cx="9987095" cy="165576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Step #1: </a:t>
            </a:r>
          </a:p>
          <a:p>
            <a:pPr algn="l"/>
            <a:r>
              <a:rPr lang="en-US" sz="2000" b="1" dirty="0">
                <a:solidFill>
                  <a:srgbClr val="0070C0"/>
                </a:solidFill>
              </a:rPr>
              <a:t>git log –</a:t>
            </a:r>
            <a:r>
              <a:rPr lang="en-US" sz="2000" b="1" dirty="0" err="1">
                <a:solidFill>
                  <a:srgbClr val="0070C0"/>
                </a:solidFill>
              </a:rPr>
              <a:t>oneline</a:t>
            </a:r>
            <a:endParaRPr lang="en-US" sz="2000" b="1" dirty="0">
              <a:solidFill>
                <a:srgbClr val="0070C0"/>
              </a:solidFill>
            </a:endParaRPr>
          </a:p>
        </p:txBody>
      </p:sp>
      <p:pic>
        <p:nvPicPr>
          <p:cNvPr id="5" name="Picture 4" descr="Hello World&#10;&#10;AI-generated content may be incorrect.">
            <a:extLst>
              <a:ext uri="{FF2B5EF4-FFF2-40B4-BE49-F238E27FC236}">
                <a16:creationId xmlns:a16="http://schemas.microsoft.com/office/drawing/2014/main" id="{11C85DAF-32FF-9A06-A7BC-C5E4E0979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39"/>
          <a:stretch>
            <a:fillRect/>
          </a:stretch>
        </p:blipFill>
        <p:spPr>
          <a:xfrm>
            <a:off x="1543050" y="2488758"/>
            <a:ext cx="9105900" cy="206588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5CF528E-A1E6-484A-96F4-B377B8FD1A13}"/>
              </a:ext>
            </a:extLst>
          </p:cNvPr>
          <p:cNvSpPr txBox="1">
            <a:spLocks/>
          </p:cNvSpPr>
          <p:nvPr/>
        </p:nvSpPr>
        <p:spPr>
          <a:xfrm>
            <a:off x="1742574" y="4868468"/>
            <a:ext cx="998709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highlight>
                  <a:srgbClr val="FFFF00"/>
                </a:highlight>
              </a:rPr>
              <a:t>NOTE: </a:t>
            </a:r>
          </a:p>
          <a:p>
            <a:pPr algn="l"/>
            <a:r>
              <a:rPr lang="en-US" b="1" dirty="0"/>
              <a:t>Now you have moved everything from the Staging Area to the Local Repository</a:t>
            </a:r>
          </a:p>
        </p:txBody>
      </p:sp>
    </p:spTree>
    <p:extLst>
      <p:ext uri="{BB962C8B-B14F-4D97-AF65-F5344CB8AC3E}">
        <p14:creationId xmlns:p14="http://schemas.microsoft.com/office/powerpoint/2010/main" val="1308107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2EA7C-F228-8EBA-CB2D-5B136D0A9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81794-0A9C-796E-0440-BB77F5BD9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5" y="94841"/>
            <a:ext cx="11226788" cy="1074082"/>
          </a:xfrm>
        </p:spPr>
        <p:txBody>
          <a:bodyPr>
            <a:noAutofit/>
          </a:bodyPr>
          <a:lstStyle/>
          <a:p>
            <a:r>
              <a:rPr lang="en-US" sz="3200" dirty="0"/>
              <a:t>How to Clear the Window in Visual Studio</a:t>
            </a:r>
            <a:endParaRPr lang="en-GB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D73EA-18E4-52C2-3BF1-2FBD2E790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673" y="1408326"/>
            <a:ext cx="9987095" cy="165576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Step #1: </a:t>
            </a:r>
          </a:p>
          <a:p>
            <a:pPr algn="l"/>
            <a:r>
              <a:rPr lang="en-US" sz="2000" b="1" dirty="0">
                <a:solidFill>
                  <a:srgbClr val="0070C0"/>
                </a:solidFill>
              </a:rPr>
              <a:t>clear + enter </a:t>
            </a:r>
          </a:p>
        </p:txBody>
      </p:sp>
      <p:pic>
        <p:nvPicPr>
          <p:cNvPr id="5" name="Picture 4" descr="The image displays a terminal or command line interface with a list of issues, followed by a prompt for input, and includes options for 'Debug Console' and 'Ports'.&#10;&#10;AI-generated content may be incorrect.">
            <a:extLst>
              <a:ext uri="{FF2B5EF4-FFF2-40B4-BE49-F238E27FC236}">
                <a16:creationId xmlns:a16="http://schemas.microsoft.com/office/drawing/2014/main" id="{99B12749-B3DC-38BB-DB44-6D51127C3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436" y="2479463"/>
            <a:ext cx="5457825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74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3679A-F72A-E424-A03D-75763836C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73825-6925-FFA6-ECC1-8660ECCD7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5" y="94841"/>
            <a:ext cx="11226788" cy="1074082"/>
          </a:xfrm>
        </p:spPr>
        <p:txBody>
          <a:bodyPr>
            <a:noAutofit/>
          </a:bodyPr>
          <a:lstStyle/>
          <a:p>
            <a:r>
              <a:rPr lang="en-US" sz="3200" dirty="0"/>
              <a:t>How to move from </a:t>
            </a:r>
            <a:r>
              <a:rPr lang="en-US" sz="3200" b="1" dirty="0"/>
              <a:t>Local Repository </a:t>
            </a:r>
            <a:r>
              <a:rPr lang="en-US" sz="3200" dirty="0"/>
              <a:t>to the </a:t>
            </a:r>
            <a:r>
              <a:rPr lang="en-US" sz="3200" b="1" dirty="0"/>
              <a:t>Remote Repository</a:t>
            </a:r>
            <a:endParaRPr lang="en-GB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FFDA90-76EF-A8DB-C8CB-58FC13FE7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2575" y="1273153"/>
            <a:ext cx="9987095" cy="5294624"/>
          </a:xfrm>
        </p:spPr>
        <p:txBody>
          <a:bodyPr>
            <a:normAutofit/>
          </a:bodyPr>
          <a:lstStyle/>
          <a:p>
            <a:pPr algn="l"/>
            <a:r>
              <a:rPr lang="en-US" sz="1600" b="1" dirty="0"/>
              <a:t>Step #1: </a:t>
            </a:r>
            <a:r>
              <a:rPr lang="en-US" sz="1600" b="1" dirty="0">
                <a:solidFill>
                  <a:srgbClr val="0070C0"/>
                </a:solidFill>
              </a:rPr>
              <a:t>Git push</a:t>
            </a:r>
          </a:p>
          <a:p>
            <a:pPr algn="l"/>
            <a:r>
              <a:rPr lang="en-US" sz="1600" b="1" dirty="0">
                <a:highlight>
                  <a:srgbClr val="FFFF00"/>
                </a:highlight>
              </a:rPr>
              <a:t>Note: </a:t>
            </a:r>
            <a:r>
              <a:rPr lang="en-US" sz="1600" b="1" dirty="0"/>
              <a:t>You need to create a destination to push your code to.</a:t>
            </a:r>
          </a:p>
          <a:p>
            <a:pPr algn="l"/>
            <a:r>
              <a:rPr lang="en-US" sz="1600" b="1" dirty="0">
                <a:solidFill>
                  <a:srgbClr val="0070C0"/>
                </a:solidFill>
              </a:rPr>
              <a:t>              </a:t>
            </a:r>
            <a:r>
              <a:rPr lang="en-US" sz="1600" b="1" dirty="0"/>
              <a:t>You need to link it to your GitHub .com</a:t>
            </a:r>
          </a:p>
          <a:p>
            <a:pPr algn="l"/>
            <a:r>
              <a:rPr lang="en-US" sz="1600" b="1" dirty="0"/>
              <a:t>Step #2:  Copy the URL from GitHub when you</a:t>
            </a:r>
          </a:p>
          <a:p>
            <a:pPr algn="l"/>
            <a:r>
              <a:rPr lang="en-US" sz="1600" b="1" dirty="0"/>
              <a:t> create A Repository .</a:t>
            </a:r>
          </a:p>
          <a:p>
            <a:pPr algn="l"/>
            <a:r>
              <a:rPr lang="en-US" sz="2000" dirty="0"/>
              <a:t>i.e. 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  <a:hlinkClick r:id="rId2"/>
              </a:rPr>
              <a:t>https://github.com/timonrosso87-ui/git-practice.git</a:t>
            </a:r>
            <a:endParaRPr lang="en-US" sz="1600" dirty="0">
              <a:solidFill>
                <a:schemeClr val="accent4">
                  <a:lumMod val="75000"/>
                </a:schemeClr>
              </a:solidFill>
            </a:endParaRPr>
          </a:p>
          <a:p>
            <a:pPr algn="l"/>
            <a:r>
              <a:rPr lang="en-US" sz="1600" b="1" dirty="0"/>
              <a:t>Step #3:  In VS Code – </a:t>
            </a:r>
          </a:p>
          <a:p>
            <a:pPr algn="l"/>
            <a:r>
              <a:rPr lang="en-US" sz="1600" b="1" dirty="0">
                <a:solidFill>
                  <a:srgbClr val="0070C0"/>
                </a:solidFill>
              </a:rPr>
              <a:t>Git remote add origin URL</a:t>
            </a:r>
          </a:p>
          <a:p>
            <a:pPr algn="l"/>
            <a:r>
              <a:rPr lang="en-US" sz="1050" b="1" dirty="0">
                <a:solidFill>
                  <a:srgbClr val="0070C0"/>
                </a:solidFill>
              </a:rPr>
              <a:t>git remote origin https://github.com/timonrosso87-ui/git-practice.git</a:t>
            </a:r>
          </a:p>
          <a:p>
            <a:pPr algn="l"/>
            <a:r>
              <a:rPr lang="en-US" sz="1600" b="1" dirty="0"/>
              <a:t>Step #4: </a:t>
            </a:r>
            <a:r>
              <a:rPr lang="en-US" sz="1600" b="1" dirty="0">
                <a:solidFill>
                  <a:srgbClr val="0070C0"/>
                </a:solidFill>
              </a:rPr>
              <a:t>git remote -v</a:t>
            </a:r>
            <a:endParaRPr lang="en-US" sz="1600" dirty="0">
              <a:solidFill>
                <a:srgbClr val="0070C0"/>
              </a:solidFill>
            </a:endParaRPr>
          </a:p>
          <a:p>
            <a:pPr algn="l"/>
            <a:endParaRPr lang="en-US" sz="2000" b="1" dirty="0"/>
          </a:p>
        </p:txBody>
      </p:sp>
      <p:pic>
        <p:nvPicPr>
          <p:cNvPr id="5" name="Picture 4" descr="The image displays a Git command error message in a Windows command prompt, indicating that the 'main' branch has no upstream branch to push to, and instructions on how to set up the remote and push the branch automatically.&#10;&#10;AI-generated content may be incorrect.">
            <a:extLst>
              <a:ext uri="{FF2B5EF4-FFF2-40B4-BE49-F238E27FC236}">
                <a16:creationId xmlns:a16="http://schemas.microsoft.com/office/drawing/2014/main" id="{979FB164-0D88-A3FD-A46F-0170644D0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437" y="2512611"/>
            <a:ext cx="4346867" cy="15431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The image displays a step-by-step guide for setting up a new Git repository, including initializing the repository, creating a README file, and pushing the changes to GitHub.&#10;&#10;AI-generated content may be incorrect.">
            <a:extLst>
              <a:ext uri="{FF2B5EF4-FFF2-40B4-BE49-F238E27FC236}">
                <a16:creationId xmlns:a16="http://schemas.microsoft.com/office/drawing/2014/main" id="{7475E899-0921-CFEA-88C0-FDD53BA63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871" y="4481191"/>
            <a:ext cx="5633433" cy="1733131"/>
          </a:xfrm>
          <a:prstGeom prst="rect">
            <a:avLst/>
          </a:prstGeom>
        </p:spPr>
      </p:pic>
      <p:pic>
        <p:nvPicPr>
          <p:cNvPr id="13" name="Picture 12" descr="The image displays a command line interface output showing the Git remote configuration for a GitHub repository, displaying both the fetch and push URLs for the 'origin' remote.&#10;&#10;AI-generated content may be incorrect.">
            <a:extLst>
              <a:ext uri="{FF2B5EF4-FFF2-40B4-BE49-F238E27FC236}">
                <a16:creationId xmlns:a16="http://schemas.microsoft.com/office/drawing/2014/main" id="{4A753931-7573-396E-5B4F-2D5744768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72" y="4917390"/>
            <a:ext cx="5183647" cy="72705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FD30093-CBB5-744A-E95B-37D48C45A5A7}"/>
              </a:ext>
            </a:extLst>
          </p:cNvPr>
          <p:cNvSpPr txBox="1"/>
          <p:nvPr/>
        </p:nvSpPr>
        <p:spPr>
          <a:xfrm>
            <a:off x="641448" y="5752657"/>
            <a:ext cx="53246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NOTE: </a:t>
            </a:r>
          </a:p>
          <a:p>
            <a:r>
              <a:rPr lang="en-GB" dirty="0"/>
              <a:t>Shows which online GitHub repository your local folder is connected to.</a:t>
            </a:r>
          </a:p>
        </p:txBody>
      </p:sp>
    </p:spTree>
    <p:extLst>
      <p:ext uri="{BB962C8B-B14F-4D97-AF65-F5344CB8AC3E}">
        <p14:creationId xmlns:p14="http://schemas.microsoft.com/office/powerpoint/2010/main" val="3137129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B3BC5-8053-BB0A-00BE-540DB32DA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5943-8B61-A777-FCD9-7419F3055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5" y="94841"/>
            <a:ext cx="11226788" cy="1074082"/>
          </a:xfrm>
        </p:spPr>
        <p:txBody>
          <a:bodyPr>
            <a:noAutofit/>
          </a:bodyPr>
          <a:lstStyle/>
          <a:p>
            <a:r>
              <a:rPr lang="en-US" sz="3200" dirty="0"/>
              <a:t>How to PUSH to Main Repository</a:t>
            </a:r>
            <a:endParaRPr lang="en-GB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80079-355B-0191-8085-1E0A6F6B2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2575" y="1273153"/>
            <a:ext cx="9987095" cy="5294624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/>
              <a:t>Step #1: </a:t>
            </a:r>
            <a:r>
              <a:rPr lang="en-US" sz="2000" b="1" dirty="0">
                <a:solidFill>
                  <a:srgbClr val="0070C0"/>
                </a:solidFill>
              </a:rPr>
              <a:t>git push --set-upstream origin main</a:t>
            </a:r>
          </a:p>
          <a:p>
            <a:pPr algn="l"/>
            <a:r>
              <a:rPr lang="en-US" sz="2000" b="1" dirty="0"/>
              <a:t>Step #2: </a:t>
            </a:r>
            <a:r>
              <a:rPr lang="en-US" sz="2000" dirty="0"/>
              <a:t>Refresh GitHub.com and you’ll see the Repository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7682D7-364D-0493-0E41-05B15F33282B}"/>
              </a:ext>
            </a:extLst>
          </p:cNvPr>
          <p:cNvSpPr txBox="1"/>
          <p:nvPr/>
        </p:nvSpPr>
        <p:spPr>
          <a:xfrm>
            <a:off x="641448" y="5752657"/>
            <a:ext cx="53246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NOTE: </a:t>
            </a:r>
          </a:p>
          <a:p>
            <a:r>
              <a:rPr lang="en-GB" dirty="0"/>
              <a:t>Shows which online GitHub repository your local folder is connected to.</a:t>
            </a:r>
          </a:p>
        </p:txBody>
      </p:sp>
      <p:pic>
        <p:nvPicPr>
          <p:cNvPr id="6" name="Picture 5" descr="The image shows a GitHub repository page with a README, an index.html file, a .gitignore file, and a commit history.&#10;&#10;AI-generated content may be incorrect.">
            <a:extLst>
              <a:ext uri="{FF2B5EF4-FFF2-40B4-BE49-F238E27FC236}">
                <a16:creationId xmlns:a16="http://schemas.microsoft.com/office/drawing/2014/main" id="{F1B13BC8-AE77-91C2-4B8E-8AD791729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938" y="2110039"/>
            <a:ext cx="6631156" cy="387331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285BE214-290D-82FF-5456-61087E4C1A56}"/>
              </a:ext>
            </a:extLst>
          </p:cNvPr>
          <p:cNvSpPr txBox="1">
            <a:spLocks/>
          </p:cNvSpPr>
          <p:nvPr/>
        </p:nvSpPr>
        <p:spPr>
          <a:xfrm>
            <a:off x="8373731" y="2650054"/>
            <a:ext cx="9987095" cy="5294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highlight>
                  <a:srgbClr val="FFFF00"/>
                </a:highlight>
              </a:rPr>
              <a:t>NOTE:</a:t>
            </a:r>
          </a:p>
          <a:p>
            <a:pPr algn="l"/>
            <a:r>
              <a:rPr lang="en-US" sz="1800" b="1" dirty="0"/>
              <a:t>These two files are now pushed </a:t>
            </a:r>
          </a:p>
          <a:p>
            <a:pPr algn="l"/>
            <a:r>
              <a:rPr lang="en-US" sz="1800" b="1" dirty="0"/>
              <a:t>onto the Remote Repository</a:t>
            </a:r>
          </a:p>
          <a:p>
            <a:pPr algn="l"/>
            <a:endParaRPr lang="en-US" sz="1800" b="1" dirty="0"/>
          </a:p>
          <a:p>
            <a:pPr algn="l"/>
            <a:r>
              <a:rPr lang="en-US" sz="1800" b="1" dirty="0"/>
              <a:t>Anybody with the URL </a:t>
            </a:r>
          </a:p>
          <a:p>
            <a:pPr algn="l"/>
            <a:r>
              <a:rPr lang="en-US" sz="1800" b="1" dirty="0"/>
              <a:t>Can see the Commits and Files</a:t>
            </a:r>
          </a:p>
          <a:p>
            <a:pPr algn="l"/>
            <a:endParaRPr lang="en-US" sz="1800" b="1" dirty="0"/>
          </a:p>
          <a:p>
            <a:pPr algn="l"/>
            <a:r>
              <a:rPr lang="en-US" sz="1800" b="1" dirty="0"/>
              <a:t>You can click on Commits to see</a:t>
            </a:r>
          </a:p>
          <a:p>
            <a:pPr algn="l"/>
            <a:r>
              <a:rPr lang="en-US" sz="1800" b="1" dirty="0"/>
              <a:t>The Logged actions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557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B21C9-333B-FC6B-2DDC-1D8791994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5589-FD67-F6AE-B4A7-47D3130F0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5" y="94841"/>
            <a:ext cx="11226788" cy="1074082"/>
          </a:xfrm>
        </p:spPr>
        <p:txBody>
          <a:bodyPr>
            <a:noAutofit/>
          </a:bodyPr>
          <a:lstStyle/>
          <a:p>
            <a:r>
              <a:rPr lang="en-US" sz="3200" dirty="0"/>
              <a:t>How to move PUSH to Sub Branches</a:t>
            </a:r>
            <a:endParaRPr lang="en-GB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C00878-6F18-49BC-B3CB-A5FC8B484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2575" y="1273153"/>
            <a:ext cx="9987095" cy="5294624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/>
              <a:t>There is a Main Branch and Sub Branches in GitHub.com </a:t>
            </a:r>
          </a:p>
          <a:p>
            <a:pPr algn="l"/>
            <a:r>
              <a:rPr lang="en-US" sz="2000" b="1" dirty="0">
                <a:solidFill>
                  <a:srgbClr val="0070C0"/>
                </a:solidFill>
              </a:rPr>
              <a:t>Sometimes you want to push the code to a sub branch…</a:t>
            </a:r>
          </a:p>
          <a:p>
            <a:pPr algn="l"/>
            <a:endParaRPr lang="en-US" sz="2000" b="1" dirty="0">
              <a:solidFill>
                <a:srgbClr val="0070C0"/>
              </a:solidFill>
            </a:endParaRPr>
          </a:p>
          <a:p>
            <a:pPr algn="l"/>
            <a:r>
              <a:rPr lang="en-US" sz="2000" b="1" dirty="0"/>
              <a:t>Step #1: </a:t>
            </a:r>
            <a:r>
              <a:rPr lang="en-GB" sz="2000" dirty="0">
                <a:solidFill>
                  <a:srgbClr val="0070C0"/>
                </a:solidFill>
              </a:rPr>
              <a:t>git remote set-</a:t>
            </a:r>
            <a:r>
              <a:rPr lang="en-GB" sz="2000" dirty="0" err="1">
                <a:solidFill>
                  <a:srgbClr val="0070C0"/>
                </a:solidFill>
              </a:rPr>
              <a:t>url</a:t>
            </a:r>
            <a:r>
              <a:rPr lang="en-GB" sz="2000" dirty="0">
                <a:solidFill>
                  <a:srgbClr val="0070C0"/>
                </a:solidFill>
              </a:rPr>
              <a:t> origin </a:t>
            </a:r>
            <a:r>
              <a:rPr lang="en-GB" sz="2000" dirty="0">
                <a:solidFill>
                  <a:srgbClr val="0070C0"/>
                </a:solidFill>
                <a:hlinkClick r:id="rId2"/>
              </a:rPr>
              <a:t>https://github.com/timonrosso87-ui/git-practice.git</a:t>
            </a:r>
            <a:endParaRPr lang="en-US" sz="2000" b="1" dirty="0">
              <a:solidFill>
                <a:srgbClr val="0070C0"/>
              </a:solidFill>
            </a:endParaRPr>
          </a:p>
          <a:p>
            <a:pPr algn="l"/>
            <a:r>
              <a:rPr lang="en-US" sz="2000" b="1" dirty="0"/>
              <a:t>Step #2: </a:t>
            </a:r>
            <a:r>
              <a:rPr lang="en-GB" sz="2000" dirty="0">
                <a:solidFill>
                  <a:srgbClr val="0070C0"/>
                </a:solidFill>
              </a:rPr>
              <a:t>git remote –v</a:t>
            </a:r>
          </a:p>
          <a:p>
            <a:pPr algn="l"/>
            <a:r>
              <a:rPr lang="en-GB" sz="2000" b="1" dirty="0"/>
              <a:t>Step #3: </a:t>
            </a:r>
            <a:r>
              <a:rPr lang="en-GB" sz="2000" dirty="0">
                <a:solidFill>
                  <a:srgbClr val="0070C0"/>
                </a:solidFill>
              </a:rPr>
              <a:t>git push -u origin main</a:t>
            </a:r>
            <a:endParaRPr lang="en-US" sz="2000" b="1" dirty="0">
              <a:solidFill>
                <a:srgbClr val="0070C0"/>
              </a:solidFill>
            </a:endParaRPr>
          </a:p>
          <a:p>
            <a:pPr algn="l"/>
            <a:endParaRPr lang="en-US" sz="2000" b="1" dirty="0">
              <a:solidFill>
                <a:srgbClr val="0070C0"/>
              </a:solidFill>
            </a:endParaRPr>
          </a:p>
        </p:txBody>
      </p:sp>
      <p:pic>
        <p:nvPicPr>
          <p:cNvPr id="7" name="Picture 6" descr="The image shows a terminal interface displaying various git commands and their outputs, indicating a user has updated the remote repository URL for their local git repository, and successfully pushed changes to the 'main' branch.&#10;&#10;AI-generated content may be incorrect.">
            <a:extLst>
              <a:ext uri="{FF2B5EF4-FFF2-40B4-BE49-F238E27FC236}">
                <a16:creationId xmlns:a16="http://schemas.microsoft.com/office/drawing/2014/main" id="{55F3BCFE-D54E-0571-641A-15572D6D1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164" y="3614445"/>
            <a:ext cx="8347630" cy="305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644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820D5-83B7-82D8-F7BE-7A2E18B6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6058-8F14-C392-B590-3272C7C1A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5" y="94841"/>
            <a:ext cx="11226788" cy="1074082"/>
          </a:xfrm>
        </p:spPr>
        <p:txBody>
          <a:bodyPr>
            <a:noAutofit/>
          </a:bodyPr>
          <a:lstStyle/>
          <a:p>
            <a:r>
              <a:rPr lang="en-US" sz="3200" dirty="0"/>
              <a:t>How to Create and Link a Remote </a:t>
            </a:r>
            <a:r>
              <a:rPr lang="en-US" sz="3200" dirty="0" err="1"/>
              <a:t>Respository</a:t>
            </a:r>
            <a:endParaRPr lang="en-GB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032F5-1416-C8DB-7357-69EB43B97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2575" y="1273153"/>
            <a:ext cx="9987095" cy="401446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Step #1: Go to GitHub.com and log in</a:t>
            </a:r>
          </a:p>
          <a:p>
            <a:pPr algn="l"/>
            <a:r>
              <a:rPr lang="en-US" b="1" dirty="0"/>
              <a:t>Step #2: Create a New Repository</a:t>
            </a:r>
          </a:p>
          <a:p>
            <a:pPr algn="l"/>
            <a:endParaRPr lang="en-US" sz="2000" b="1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142F149-615D-EB33-9172-A941D5B792F6}"/>
              </a:ext>
            </a:extLst>
          </p:cNvPr>
          <p:cNvSpPr txBox="1">
            <a:spLocks/>
          </p:cNvSpPr>
          <p:nvPr/>
        </p:nvSpPr>
        <p:spPr>
          <a:xfrm>
            <a:off x="7118984" y="3177018"/>
            <a:ext cx="9987095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highlight>
                  <a:srgbClr val="FFFF00"/>
                </a:highlight>
              </a:rPr>
              <a:t>NOTE: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/>
              <a:t>We will add our own ReadMe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/>
              <a:t>We have created our Own </a:t>
            </a:r>
            <a:r>
              <a:rPr lang="en-US" sz="1800" b="1" dirty="0" err="1"/>
              <a:t>gitignore</a:t>
            </a:r>
            <a:r>
              <a:rPr lang="en-US" sz="1800" b="1" dirty="0"/>
              <a:t> file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 err="1"/>
              <a:t>Licence</a:t>
            </a:r>
            <a:r>
              <a:rPr lang="en-US" sz="1800" b="1" dirty="0"/>
              <a:t> – Wants to explain how to use the code </a:t>
            </a:r>
          </a:p>
          <a:p>
            <a:pPr algn="l"/>
            <a:r>
              <a:rPr lang="en-US" sz="1800" b="1" dirty="0"/>
              <a:t>For commercial purposes </a:t>
            </a:r>
            <a:r>
              <a:rPr lang="en-US" sz="1800" b="1" dirty="0" err="1"/>
              <a:t>etc</a:t>
            </a:r>
            <a:r>
              <a:rPr lang="en-US" sz="1800" b="1" dirty="0"/>
              <a:t>… </a:t>
            </a:r>
          </a:p>
        </p:txBody>
      </p:sp>
      <p:pic>
        <p:nvPicPr>
          <p:cNvPr id="6" name="Picture 5" descr="The image shows a user setting up a new GitHub repository named 'git-practice' with options to configure visibility, README, .gitignore, and license.&#10;&#10;AI-generated content may be incorrect.">
            <a:extLst>
              <a:ext uri="{FF2B5EF4-FFF2-40B4-BE49-F238E27FC236}">
                <a16:creationId xmlns:a16="http://schemas.microsoft.com/office/drawing/2014/main" id="{B9C73493-DA8B-450B-626D-793B22CFC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25" y="2248616"/>
            <a:ext cx="5246753" cy="451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72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A9E86-8AC9-7677-6EED-551FA417E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77EF5-4F4C-8BBC-714B-5ADAB93CF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5" y="94841"/>
            <a:ext cx="11226788" cy="1074082"/>
          </a:xfrm>
        </p:spPr>
        <p:txBody>
          <a:bodyPr>
            <a:normAutofit/>
          </a:bodyPr>
          <a:lstStyle/>
          <a:p>
            <a:r>
              <a:rPr lang="en-US" dirty="0"/>
              <a:t>How to Add A ReadMe File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28755-FE96-F1E4-0CF1-5921ED581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535" y="1443299"/>
            <a:ext cx="9987095" cy="198570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 dirty="0"/>
              <a:t>Step #1: Add File </a:t>
            </a:r>
            <a:r>
              <a:rPr lang="en-US" b="1" dirty="0">
                <a:solidFill>
                  <a:srgbClr val="0070C0"/>
                </a:solidFill>
              </a:rPr>
              <a:t>README.md</a:t>
            </a:r>
          </a:p>
          <a:p>
            <a:pPr algn="l"/>
            <a:r>
              <a:rPr lang="en-US" b="1" dirty="0"/>
              <a:t>Step #2: git status</a:t>
            </a:r>
          </a:p>
          <a:p>
            <a:pPr algn="l"/>
            <a:r>
              <a:rPr lang="en-US" b="1" dirty="0"/>
              <a:t>Step #3: git add .</a:t>
            </a:r>
          </a:p>
          <a:p>
            <a:pPr algn="l"/>
            <a:r>
              <a:rPr lang="en-US" b="1" dirty="0"/>
              <a:t>Step #4: git commit -m “Adding a basic ReadMe File”</a:t>
            </a:r>
          </a:p>
          <a:p>
            <a:pPr algn="l"/>
            <a:r>
              <a:rPr lang="en-US" b="1" dirty="0"/>
              <a:t>Step #5: git push</a:t>
            </a:r>
          </a:p>
          <a:p>
            <a:pPr algn="l"/>
            <a:r>
              <a:rPr lang="en-US" b="1" dirty="0"/>
              <a:t>Step #6: Refresh and ReadMe is added in Remote Repository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E9BC883-E709-97C2-497B-2C23981946C4}"/>
              </a:ext>
            </a:extLst>
          </p:cNvPr>
          <p:cNvSpPr txBox="1">
            <a:spLocks/>
          </p:cNvSpPr>
          <p:nvPr/>
        </p:nvSpPr>
        <p:spPr>
          <a:xfrm>
            <a:off x="127530" y="6387928"/>
            <a:ext cx="998709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highlight>
                  <a:srgbClr val="FFFF00"/>
                </a:highlight>
              </a:rPr>
              <a:t>NOTE: </a:t>
            </a:r>
            <a:r>
              <a:rPr lang="en-US" b="1" dirty="0"/>
              <a:t>Make sure you use a HYPHEN and not a LONG DASH</a:t>
            </a:r>
          </a:p>
        </p:txBody>
      </p:sp>
      <p:pic>
        <p:nvPicPr>
          <p:cNvPr id="10" name="Picture 9" descr="The image shows a text-based terminal interface displaying error messages and commands related to initializing a Git repository, staging changes, and pushing commits to a remote repository.&#10;&#10;AI-generated content may be incorrect.">
            <a:extLst>
              <a:ext uri="{FF2B5EF4-FFF2-40B4-BE49-F238E27FC236}">
                <a16:creationId xmlns:a16="http://schemas.microsoft.com/office/drawing/2014/main" id="{2FB110EA-3857-4AD7-56C3-AC2DF8134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689" y="3368065"/>
            <a:ext cx="4683847" cy="29488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The image shows a user navigating through a file management interface, adding a README file and a gitignore file, and creating a Hello World page.&#10;&#10;AI-generated content may be incorrect.">
            <a:extLst>
              <a:ext uri="{FF2B5EF4-FFF2-40B4-BE49-F238E27FC236}">
                <a16:creationId xmlns:a16="http://schemas.microsoft.com/office/drawing/2014/main" id="{58BFF984-C68C-F863-7B3F-CBDBCD0C3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30" y="3703376"/>
            <a:ext cx="6500065" cy="16584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7325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543A-2A07-62DB-02E5-E33687024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7776-7D2E-D32D-9C7A-ABD64A20C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5" y="94841"/>
            <a:ext cx="11226788" cy="1074082"/>
          </a:xfrm>
        </p:spPr>
        <p:txBody>
          <a:bodyPr>
            <a:normAutofit/>
          </a:bodyPr>
          <a:lstStyle/>
          <a:p>
            <a:r>
              <a:rPr lang="en-US" dirty="0"/>
              <a:t>How to </a:t>
            </a:r>
            <a:r>
              <a:rPr lang="en-US" dirty="0" err="1"/>
              <a:t>Unstage</a:t>
            </a:r>
            <a:r>
              <a:rPr lang="en-US" dirty="0"/>
              <a:t> a File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353D4-C56F-D101-AE32-9A6A0ACEC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535" y="1443299"/>
            <a:ext cx="9987095" cy="165576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Step #1: </a:t>
            </a:r>
            <a:r>
              <a:rPr lang="en-US" b="1" dirty="0">
                <a:solidFill>
                  <a:srgbClr val="0070C0"/>
                </a:solidFill>
              </a:rPr>
              <a:t>git rm --cached practice.txt</a:t>
            </a:r>
          </a:p>
          <a:p>
            <a:pPr algn="l"/>
            <a:r>
              <a:rPr lang="en-US" b="1" dirty="0"/>
              <a:t>Step #2: git status</a:t>
            </a:r>
          </a:p>
        </p:txBody>
      </p:sp>
      <p:pic>
        <p:nvPicPr>
          <p:cNvPr id="7" name="Picture 6" descr="The image shows a text document titled 'practice.txt' with a line of HTML code and a terminal command line displaying an error message related to Git.&#10;&#10;AI-generated content may be incorrect.">
            <a:extLst>
              <a:ext uri="{FF2B5EF4-FFF2-40B4-BE49-F238E27FC236}">
                <a16:creationId xmlns:a16="http://schemas.microsoft.com/office/drawing/2014/main" id="{E7EC1524-2CF6-F554-9345-291768CB0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643" y="1953453"/>
            <a:ext cx="6316987" cy="461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071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7C03E-088D-10D0-C5A4-543A0972D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A67E-A810-CEAB-3C8E-614C32C4B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5" y="94841"/>
            <a:ext cx="11226788" cy="1074082"/>
          </a:xfrm>
        </p:spPr>
        <p:txBody>
          <a:bodyPr>
            <a:normAutofit/>
          </a:bodyPr>
          <a:lstStyle/>
          <a:p>
            <a:r>
              <a:rPr lang="en-US" dirty="0"/>
              <a:t>How to Ignore a File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6EAB2-8A3D-FB95-A0ED-F5918436D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535" y="1443298"/>
            <a:ext cx="9987095" cy="198570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/>
              <a:t>Step #1: </a:t>
            </a:r>
            <a:r>
              <a:rPr lang="en-US" dirty="0"/>
              <a:t>Create a New File </a:t>
            </a:r>
            <a:r>
              <a:rPr lang="en-US" b="1" dirty="0">
                <a:solidFill>
                  <a:srgbClr val="0070C0"/>
                </a:solidFill>
              </a:rPr>
              <a:t>.</a:t>
            </a:r>
            <a:r>
              <a:rPr lang="en-US" b="1" dirty="0" err="1">
                <a:solidFill>
                  <a:srgbClr val="0070C0"/>
                </a:solidFill>
              </a:rPr>
              <a:t>gitignore</a:t>
            </a:r>
            <a:endParaRPr lang="en-US" b="1" dirty="0">
              <a:solidFill>
                <a:srgbClr val="0070C0"/>
              </a:solidFill>
            </a:endParaRPr>
          </a:p>
          <a:p>
            <a:pPr algn="l"/>
            <a:r>
              <a:rPr lang="en-US" b="1" dirty="0"/>
              <a:t>Step #2: </a:t>
            </a:r>
            <a:r>
              <a:rPr lang="en-US" dirty="0"/>
              <a:t>Under – Type the file you want to ignore i.e. </a:t>
            </a:r>
            <a:r>
              <a:rPr lang="en-US" dirty="0">
                <a:solidFill>
                  <a:srgbClr val="0070C0"/>
                </a:solidFill>
              </a:rPr>
              <a:t>practice.txt</a:t>
            </a:r>
          </a:p>
          <a:p>
            <a:pPr algn="l"/>
            <a:r>
              <a:rPr lang="en-US" b="1" dirty="0"/>
              <a:t>Step #3: </a:t>
            </a:r>
            <a:r>
              <a:rPr lang="en-US" dirty="0">
                <a:solidFill>
                  <a:srgbClr val="0070C0"/>
                </a:solidFill>
              </a:rPr>
              <a:t>git status</a:t>
            </a:r>
          </a:p>
          <a:p>
            <a:pPr algn="l"/>
            <a:r>
              <a:rPr lang="en-US" b="1" dirty="0"/>
              <a:t>Step #4: </a:t>
            </a:r>
            <a:r>
              <a:rPr lang="en-US" dirty="0">
                <a:solidFill>
                  <a:srgbClr val="0070C0"/>
                </a:solidFill>
              </a:rPr>
              <a:t>git add . </a:t>
            </a:r>
          </a:p>
          <a:p>
            <a:pPr algn="l"/>
            <a:r>
              <a:rPr lang="en-US" dirty="0"/>
              <a:t>(to add .</a:t>
            </a:r>
            <a:r>
              <a:rPr lang="en-US" dirty="0" err="1"/>
              <a:t>gitignore</a:t>
            </a:r>
            <a:r>
              <a:rPr lang="en-US" dirty="0"/>
              <a:t>)</a:t>
            </a:r>
          </a:p>
          <a:p>
            <a:pPr algn="l"/>
            <a:endParaRPr lang="en-US" b="1" dirty="0"/>
          </a:p>
        </p:txBody>
      </p:sp>
      <p:pic>
        <p:nvPicPr>
          <p:cNvPr id="5" name="Picture 4" descr="The image shows a terminal window with various git commands and outputs, including error messages and file statuses, related to removing a file named 'practice.txt' from a git repository.&#10;&#10;AI-generated content may be incorrect.">
            <a:extLst>
              <a:ext uri="{FF2B5EF4-FFF2-40B4-BE49-F238E27FC236}">
                <a16:creationId xmlns:a16="http://schemas.microsoft.com/office/drawing/2014/main" id="{2BAF7207-BA47-9ADC-31E8-C5B77B538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919" y="2463080"/>
            <a:ext cx="5814711" cy="4247481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5C2281CA-951D-DFD5-AD40-A21CA407FB28}"/>
              </a:ext>
            </a:extLst>
          </p:cNvPr>
          <p:cNvSpPr txBox="1">
            <a:spLocks/>
          </p:cNvSpPr>
          <p:nvPr/>
        </p:nvSpPr>
        <p:spPr>
          <a:xfrm>
            <a:off x="8598182" y="2931058"/>
            <a:ext cx="316824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highlight>
                  <a:srgbClr val="FFFF00"/>
                </a:highlight>
              </a:rPr>
              <a:t>NOTE: </a:t>
            </a:r>
          </a:p>
          <a:p>
            <a:pPr algn="l"/>
            <a:r>
              <a:rPr lang="en-US" sz="1800" b="1" dirty="0"/>
              <a:t>All files listed in .</a:t>
            </a:r>
            <a:r>
              <a:rPr lang="en-US" sz="1800" b="1" dirty="0" err="1"/>
              <a:t>gitignore</a:t>
            </a:r>
            <a:r>
              <a:rPr lang="en-US" sz="1800" b="1" dirty="0"/>
              <a:t> </a:t>
            </a:r>
          </a:p>
          <a:p>
            <a:pPr algn="l"/>
            <a:r>
              <a:rPr lang="en-US" sz="1800" b="1" dirty="0"/>
              <a:t>should be ignored</a:t>
            </a:r>
          </a:p>
        </p:txBody>
      </p:sp>
      <p:pic>
        <p:nvPicPr>
          <p:cNvPr id="9" name="Picture 8" descr="Practice.txt&#10;&#10;AI-generated content may be incorrect.">
            <a:extLst>
              <a:ext uri="{FF2B5EF4-FFF2-40B4-BE49-F238E27FC236}">
                <a16:creationId xmlns:a16="http://schemas.microsoft.com/office/drawing/2014/main" id="{21C81D83-5AAD-E21A-24BF-814D0BCDB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811" y="5870271"/>
            <a:ext cx="3434010" cy="628966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D9526BEF-A3D2-8B6E-3CE1-408B29989E62}"/>
              </a:ext>
            </a:extLst>
          </p:cNvPr>
          <p:cNvSpPr txBox="1">
            <a:spLocks/>
          </p:cNvSpPr>
          <p:nvPr/>
        </p:nvSpPr>
        <p:spPr>
          <a:xfrm>
            <a:off x="200069" y="5494214"/>
            <a:ext cx="316824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highlight>
                  <a:srgbClr val="FFFF00"/>
                </a:highlight>
              </a:rPr>
              <a:t>NOTE: </a:t>
            </a:r>
          </a:p>
          <a:p>
            <a:pPr algn="l"/>
            <a:r>
              <a:rPr lang="en-US" sz="1800" b="1" dirty="0"/>
              <a:t>Now in Grey Practice.txt </a:t>
            </a:r>
          </a:p>
          <a:p>
            <a:pPr algn="l"/>
            <a:r>
              <a:rPr lang="en-US" sz="1800" b="1" dirty="0"/>
              <a:t>Is being ignored!</a:t>
            </a:r>
          </a:p>
          <a:p>
            <a:pPr algn="l"/>
            <a:endParaRPr lang="en-US" sz="18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7422C6-5A4B-11FF-D6D8-52C83625F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4190" y="3383278"/>
            <a:ext cx="4029075" cy="4286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 descr="The image shows a terminal session in a command prompt, where the user has executed two commands to stage a new .gitignore and index.html file in their Git repository.&#10;&#10;AI-generated content may be incorrect.">
            <a:extLst>
              <a:ext uri="{FF2B5EF4-FFF2-40B4-BE49-F238E27FC236}">
                <a16:creationId xmlns:a16="http://schemas.microsoft.com/office/drawing/2014/main" id="{E770FFCD-4F15-7FC5-7D13-079FB14CC3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1658" y="3895100"/>
            <a:ext cx="4094137" cy="138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090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BC147-595D-C8E1-7FCE-F784B2AD1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C461A-EBA9-E818-1779-717A25985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5" y="94841"/>
            <a:ext cx="11226788" cy="1074082"/>
          </a:xfrm>
        </p:spPr>
        <p:txBody>
          <a:bodyPr>
            <a:normAutofit/>
          </a:bodyPr>
          <a:lstStyle/>
          <a:p>
            <a:r>
              <a:rPr lang="en-US" dirty="0"/>
              <a:t>How to Show Hidden Files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6D8B7-6344-7F4F-307C-E28DCC4A1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535" y="1443299"/>
            <a:ext cx="9987095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/>
              <a:t>Step #1: Computer – Local Repository – Git Project </a:t>
            </a:r>
          </a:p>
          <a:p>
            <a:pPr algn="l"/>
            <a:r>
              <a:rPr lang="en-US" dirty="0"/>
              <a:t>This PC &gt; Windows (C</a:t>
            </a:r>
            <a:r>
              <a:rPr lang="en-US" dirty="0">
                <a:sym typeface="Wingdings" panose="05000000000000000000" pitchFamily="2" charset="2"/>
              </a:rPr>
              <a:t>:) &gt; Users &gt; Timon &gt; git practice</a:t>
            </a:r>
            <a:endParaRPr lang="en-US" dirty="0"/>
          </a:p>
          <a:p>
            <a:pPr algn="l"/>
            <a:endParaRPr lang="en-US" b="1" dirty="0"/>
          </a:p>
          <a:p>
            <a:pPr algn="l"/>
            <a:r>
              <a:rPr lang="en-US" b="1" dirty="0"/>
              <a:t>Step #2: </a:t>
            </a:r>
            <a:r>
              <a:rPr lang="en-US" dirty="0"/>
              <a:t>View – Show – Hidden items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Picture 6" descr="The image depicts a file explorer interface with various file and folder icons, including a hidden file and different sizes of icons for organization and navigation.&#10;&#10;AI-generated content may be incorrect.">
            <a:extLst>
              <a:ext uri="{FF2B5EF4-FFF2-40B4-BE49-F238E27FC236}">
                <a16:creationId xmlns:a16="http://schemas.microsoft.com/office/drawing/2014/main" id="{030E86E8-505E-B9CD-8474-B75988999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390" y="2950568"/>
            <a:ext cx="4607672" cy="3656883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5424A983-646B-D071-F3A2-4900E43198E7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998709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/>
              <a:t>Inside the hidden files are files – Metadata used by Git</a:t>
            </a:r>
          </a:p>
          <a:p>
            <a:pPr algn="l"/>
            <a:r>
              <a:rPr lang="en-US" sz="1800" b="1" dirty="0">
                <a:highlight>
                  <a:srgbClr val="FFFF00"/>
                </a:highlight>
              </a:rPr>
              <a:t>Used to track the history and any code changes</a:t>
            </a:r>
            <a:endParaRPr lang="en-US" sz="1800" dirty="0">
              <a:highlight>
                <a:srgbClr val="FFFF00"/>
              </a:highlight>
            </a:endParaRPr>
          </a:p>
        </p:txBody>
      </p:sp>
      <p:pic>
        <p:nvPicPr>
          <p:cNvPr id="12" name="Picture 11" descr="The image shows a computer screen displaying a list of files and folders, including various file types like .swp, .log, .git, and .config, with some files containing specific terms such as COMMIT_EDITMSG and FETCH_HEAD.&#10;&#10;AI-generated content may be incorrect.">
            <a:extLst>
              <a:ext uri="{FF2B5EF4-FFF2-40B4-BE49-F238E27FC236}">
                <a16:creationId xmlns:a16="http://schemas.microsoft.com/office/drawing/2014/main" id="{3859A0AB-48F1-BDC4-1F39-0082E7846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038" y="4295287"/>
            <a:ext cx="3041505" cy="231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70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D8DAA-49A8-B374-5899-F06C27F6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ADA98-674C-D757-9778-66D4D1567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5" y="94841"/>
            <a:ext cx="11226788" cy="1074082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Delete Previous Tracked Files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89DF0-D4C8-5581-2026-6C34CE38A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535" y="1443298"/>
            <a:ext cx="9987095" cy="3199039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Step #1:  </a:t>
            </a:r>
            <a:r>
              <a:rPr lang="en-US" dirty="0"/>
              <a:t>POWERSHELL: </a:t>
            </a:r>
            <a:r>
              <a:rPr lang="en-GB" dirty="0">
                <a:solidFill>
                  <a:srgbClr val="0070C0"/>
                </a:solidFill>
              </a:rPr>
              <a:t>git add –A</a:t>
            </a:r>
          </a:p>
          <a:p>
            <a:pPr algn="l"/>
            <a:r>
              <a:rPr lang="en-GB" b="1" dirty="0"/>
              <a:t>Step #2: </a:t>
            </a:r>
            <a:r>
              <a:rPr lang="en-GB" dirty="0">
                <a:solidFill>
                  <a:srgbClr val="0070C0"/>
                </a:solidFill>
              </a:rPr>
              <a:t>git commit -m "Remove old files and keep index.html“</a:t>
            </a:r>
          </a:p>
          <a:p>
            <a:pPr algn="l"/>
            <a:r>
              <a:rPr lang="en-GB" b="1" dirty="0"/>
              <a:t>Step #3: </a:t>
            </a:r>
            <a:r>
              <a:rPr lang="en-GB" dirty="0">
                <a:solidFill>
                  <a:srgbClr val="0070C0"/>
                </a:solidFill>
              </a:rPr>
              <a:t>git status</a:t>
            </a:r>
          </a:p>
          <a:p>
            <a:pPr algn="l"/>
            <a:r>
              <a:rPr lang="en-GB" b="1" dirty="0"/>
              <a:t>Step #4: </a:t>
            </a:r>
            <a:r>
              <a:rPr lang="en-GB" dirty="0">
                <a:solidFill>
                  <a:srgbClr val="0070C0"/>
                </a:solidFill>
              </a:rPr>
              <a:t>git ls-files  </a:t>
            </a:r>
            <a:r>
              <a:rPr lang="en-GB" b="1" dirty="0">
                <a:solidFill>
                  <a:srgbClr val="0070C0"/>
                </a:solidFill>
              </a:rPr>
              <a:t>- </a:t>
            </a:r>
            <a:r>
              <a:rPr lang="en-GB" dirty="0"/>
              <a:t>Confirm only index.html shows.</a:t>
            </a:r>
          </a:p>
          <a:p>
            <a:pPr algn="l"/>
            <a:r>
              <a:rPr lang="en-US" b="1" dirty="0"/>
              <a:t>Step #5: </a:t>
            </a:r>
          </a:p>
        </p:txBody>
      </p:sp>
      <p:pic>
        <p:nvPicPr>
          <p:cNvPr id="5" name="Picture 4" descr="The image shows a terminal session where the user is performing various Git commands to update a repository, including adding all files, committing changes, and checking the repository status.&#10;&#10;AI-generated content may be incorrect.">
            <a:extLst>
              <a:ext uri="{FF2B5EF4-FFF2-40B4-BE49-F238E27FC236}">
                <a16:creationId xmlns:a16="http://schemas.microsoft.com/office/drawing/2014/main" id="{88153074-5B66-9E92-1FC8-AF52FB813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738" y="4504223"/>
            <a:ext cx="6813672" cy="2124032"/>
          </a:xfrm>
          <a:prstGeom prst="rect">
            <a:avLst/>
          </a:prstGeom>
        </p:spPr>
      </p:pic>
      <p:pic>
        <p:nvPicPr>
          <p:cNvPr id="8" name="Picture 7" descr="index.html&#10;&#10;AI-generated content may be incorrect.">
            <a:extLst>
              <a:ext uri="{FF2B5EF4-FFF2-40B4-BE49-F238E27FC236}">
                <a16:creationId xmlns:a16="http://schemas.microsoft.com/office/drawing/2014/main" id="{6530CA9E-E8C5-05B5-B107-EA4173F7E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601" y="3208788"/>
            <a:ext cx="3941029" cy="44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890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FF448-1BD9-0E26-602D-96E44E777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2987-84E7-5161-1C02-574E56309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439" y="-130434"/>
            <a:ext cx="11226788" cy="1074082"/>
          </a:xfrm>
        </p:spPr>
        <p:txBody>
          <a:bodyPr>
            <a:noAutofit/>
          </a:bodyPr>
          <a:lstStyle/>
          <a:p>
            <a:r>
              <a:rPr lang="en-US" sz="4000" dirty="0"/>
              <a:t>How to Create a New Folder and Run the Terminal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CE6DC-2739-333E-CDC4-0CF69CE7D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936" y="1309847"/>
            <a:ext cx="9987095" cy="526588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Step #1: </a:t>
            </a:r>
            <a:r>
              <a:rPr lang="en-US" dirty="0"/>
              <a:t>Create a Folder – “team-mate-git-practice” on your computer</a:t>
            </a:r>
          </a:p>
          <a:p>
            <a:pPr algn="l"/>
            <a:r>
              <a:rPr lang="en-US" dirty="0">
                <a:solidFill>
                  <a:srgbClr val="0070C0"/>
                </a:solidFill>
              </a:rPr>
              <a:t>e.g. C:\Users\timon\git-teammate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Step #2: </a:t>
            </a:r>
            <a:r>
              <a:rPr lang="en-US" dirty="0"/>
              <a:t>In VS: File – New Window.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Step #3: </a:t>
            </a:r>
            <a:r>
              <a:rPr lang="en-US" dirty="0"/>
              <a:t>File – Open Folder - C:\Users\timon\git-teammate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Step #4: </a:t>
            </a:r>
            <a:r>
              <a:rPr lang="en-US" dirty="0"/>
              <a:t>Terminal – New Terminal – Confirm it shows </a:t>
            </a:r>
            <a:r>
              <a:rPr lang="en-US" sz="1600" dirty="0"/>
              <a:t>C:\Users\timon\git-teammate</a:t>
            </a:r>
            <a:endParaRPr lang="en-US" dirty="0"/>
          </a:p>
        </p:txBody>
      </p:sp>
      <p:pic>
        <p:nvPicPr>
          <p:cNvPr id="7" name="Picture 6" descr="The image depicts a computer screen displaying various keyboard shortcuts for file operations in a text editor or document editing software.&#10;&#10;AI-generated content may be incorrect.">
            <a:extLst>
              <a:ext uri="{FF2B5EF4-FFF2-40B4-BE49-F238E27FC236}">
                <a16:creationId xmlns:a16="http://schemas.microsoft.com/office/drawing/2014/main" id="{504CCAE6-4AB1-D970-2AE2-1F2FDDA4B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195" y="2313639"/>
            <a:ext cx="2516132" cy="90843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The image depicts a computer interface showing various keyboard shortcuts for file and document management, specifically for creating and opening new files or windows.&#10;&#10;AI-generated content may be incorrect.">
            <a:extLst>
              <a:ext uri="{FF2B5EF4-FFF2-40B4-BE49-F238E27FC236}">
                <a16:creationId xmlns:a16="http://schemas.microsoft.com/office/drawing/2014/main" id="{B96E8960-29BB-D898-7700-39632B1B3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145" y="2900102"/>
            <a:ext cx="2419350" cy="13238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 descr="Split Terminal&#10;&#10;AI-generated content may be incorrect.">
            <a:extLst>
              <a:ext uri="{FF2B5EF4-FFF2-40B4-BE49-F238E27FC236}">
                <a16:creationId xmlns:a16="http://schemas.microsoft.com/office/drawing/2014/main" id="{68ACC812-CE55-6677-7B7F-5EC953B31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749" y="4943262"/>
            <a:ext cx="6454688" cy="6375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 descr="The image displays a computer terminal interface with a user interface for debugging, featuring an open command line, a list of problems, and available ports.&#10;&#10;AI-generated content may be incorrect.">
            <a:extLst>
              <a:ext uri="{FF2B5EF4-FFF2-40B4-BE49-F238E27FC236}">
                <a16:creationId xmlns:a16="http://schemas.microsoft.com/office/drawing/2014/main" id="{E57FECAF-0D87-4BAE-B816-0108D25526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204" y="5651725"/>
            <a:ext cx="4105233" cy="7354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6359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0B652-1A0E-07EA-26D2-A610191C2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999C7-A2CD-9E82-24CE-DA3EE6569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121" y="-222161"/>
            <a:ext cx="11226788" cy="1074082"/>
          </a:xfrm>
        </p:spPr>
        <p:txBody>
          <a:bodyPr>
            <a:noAutofit/>
          </a:bodyPr>
          <a:lstStyle/>
          <a:p>
            <a:r>
              <a:rPr lang="en-US" sz="4000" dirty="0"/>
              <a:t>How to Clone Remote Repository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E4A791-0C8A-D0D8-A008-03038BEA5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839" y="961122"/>
            <a:ext cx="9987095" cy="1877494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Step #1: </a:t>
            </a:r>
            <a:r>
              <a:rPr lang="en-US" dirty="0"/>
              <a:t>In the NEW FOLDER</a:t>
            </a:r>
            <a:br>
              <a:rPr lang="en-US" b="1" dirty="0"/>
            </a:br>
            <a:endParaRPr lang="en-US" dirty="0"/>
          </a:p>
          <a:p>
            <a:pPr algn="l"/>
            <a:r>
              <a:rPr lang="en-US" b="1" dirty="0"/>
              <a:t>Step #2: </a:t>
            </a:r>
            <a:r>
              <a:rPr lang="en-US" dirty="0">
                <a:solidFill>
                  <a:srgbClr val="0070C0"/>
                </a:solidFill>
              </a:rPr>
              <a:t>git clone “URL”</a:t>
            </a:r>
          </a:p>
          <a:p>
            <a:pPr algn="l"/>
            <a:r>
              <a:rPr lang="en-US" sz="1600" dirty="0">
                <a:solidFill>
                  <a:srgbClr val="0070C0"/>
                </a:solidFill>
              </a:rPr>
              <a:t>git clone https://github.com/timonrosso87-ui/git-practice.git .</a:t>
            </a:r>
            <a:endParaRPr lang="en-US" dirty="0"/>
          </a:p>
        </p:txBody>
      </p:sp>
      <p:pic>
        <p:nvPicPr>
          <p:cNvPr id="5" name="Picture 4" descr="The image shows a list of file names associated with a Git repository, including 'git-teammate.txt', '.gitignore', 'index.html', and 'README.md'.&#10;&#10;AI-generated content may be incorrect.">
            <a:extLst>
              <a:ext uri="{FF2B5EF4-FFF2-40B4-BE49-F238E27FC236}">
                <a16:creationId xmlns:a16="http://schemas.microsoft.com/office/drawing/2014/main" id="{711D95C0-7844-A003-56BA-0D5DB9D7C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03" y="2705432"/>
            <a:ext cx="2390775" cy="15621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The image shows a Windows computer screen with a folder named 'timon' open, containing a .git folder with a .gitignore file, a README.md file, and an index.html file, all last modified on September 16, 2026.&#10;&#10;AI-generated content may be incorrect.">
            <a:extLst>
              <a:ext uri="{FF2B5EF4-FFF2-40B4-BE49-F238E27FC236}">
                <a16:creationId xmlns:a16="http://schemas.microsoft.com/office/drawing/2014/main" id="{13B8771C-642C-195F-2AA9-CE93AB847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823" y="2647022"/>
            <a:ext cx="5776043" cy="23075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476C8019-0CC7-BC79-DC4E-9B5BB94B7838}"/>
              </a:ext>
            </a:extLst>
          </p:cNvPr>
          <p:cNvSpPr txBox="1">
            <a:spLocks/>
          </p:cNvSpPr>
          <p:nvPr/>
        </p:nvSpPr>
        <p:spPr>
          <a:xfrm>
            <a:off x="519839" y="5192541"/>
            <a:ext cx="9987095" cy="1877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NOTE: </a:t>
            </a:r>
            <a:r>
              <a:rPr lang="en-US" b="1" dirty="0">
                <a:solidFill>
                  <a:srgbClr val="0070C0"/>
                </a:solidFill>
              </a:rPr>
              <a:t>git clone </a:t>
            </a:r>
            <a:r>
              <a:rPr lang="en-US" b="1" dirty="0"/>
              <a:t>is only for cloning for the </a:t>
            </a:r>
            <a:r>
              <a:rPr lang="en-US" b="1" dirty="0">
                <a:highlight>
                  <a:srgbClr val="FFFF00"/>
                </a:highlight>
              </a:rPr>
              <a:t>FIRST TIME ONLY</a:t>
            </a:r>
          </a:p>
          <a:p>
            <a:pPr algn="l"/>
            <a:r>
              <a:rPr lang="en-US" b="1" dirty="0"/>
              <a:t>If you want the NEW data you need to PULL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911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06B5A-3682-C56A-BB07-472A29F9F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4997-0516-8D9B-701D-482DBA952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121" y="-222161"/>
            <a:ext cx="11226788" cy="1074082"/>
          </a:xfrm>
        </p:spPr>
        <p:txBody>
          <a:bodyPr>
            <a:noAutofit/>
          </a:bodyPr>
          <a:lstStyle/>
          <a:p>
            <a:r>
              <a:rPr lang="en-US" sz="4000" dirty="0"/>
              <a:t>How to Pull New Data from Repository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B87E7D-8E62-492E-DC5B-AB83F193B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936" y="1309847"/>
            <a:ext cx="9987095" cy="526588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Step #1: </a:t>
            </a:r>
            <a:r>
              <a:rPr lang="en-US" dirty="0"/>
              <a:t>Make sure the Repository is first Cloned (Only once)</a:t>
            </a:r>
          </a:p>
          <a:p>
            <a:pPr algn="l"/>
            <a:endParaRPr lang="en-US" b="1" dirty="0"/>
          </a:p>
          <a:p>
            <a:pPr algn="l"/>
            <a:r>
              <a:rPr lang="en-US" b="1" dirty="0"/>
              <a:t>Step #2: </a:t>
            </a:r>
            <a:r>
              <a:rPr lang="en-US" b="1" dirty="0">
                <a:solidFill>
                  <a:srgbClr val="0070C0"/>
                </a:solidFill>
              </a:rPr>
              <a:t>git pull</a:t>
            </a:r>
            <a:br>
              <a:rPr lang="en-US" b="1" dirty="0"/>
            </a:br>
            <a:r>
              <a:rPr lang="en-US" b="1" dirty="0"/>
              <a:t>NOTE: </a:t>
            </a:r>
            <a:r>
              <a:rPr lang="en-US" dirty="0"/>
              <a:t>This updates everything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 algn="l"/>
            <a:endParaRPr lang="en-US" dirty="0">
              <a:solidFill>
                <a:srgbClr val="0070C0"/>
              </a:solidFill>
            </a:endParaRPr>
          </a:p>
          <a:p>
            <a:pPr algn="l"/>
            <a:endParaRPr lang="en-US" dirty="0"/>
          </a:p>
        </p:txBody>
      </p:sp>
      <p:pic>
        <p:nvPicPr>
          <p:cNvPr id="6" name="Picture 5" descr="The image shows a terminal window displaying a series of Git commands and messages, indicating a successful pull from a remote repository.&#10;&#10;AI-generated content may be incorrect.">
            <a:extLst>
              <a:ext uri="{FF2B5EF4-FFF2-40B4-BE49-F238E27FC236}">
                <a16:creationId xmlns:a16="http://schemas.microsoft.com/office/drawing/2014/main" id="{E3D84B72-E719-C4EB-2C78-9E33D17BE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688" y="1925804"/>
            <a:ext cx="5915771" cy="46001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The image displays a code editor with various files and folders, including 'index.html', 'practice.txt', and 'README.md', and shows a terminal window displaying a Git pull command and its output.&#10;&#10;AI-generated content may be incorrect.">
            <a:extLst>
              <a:ext uri="{FF2B5EF4-FFF2-40B4-BE49-F238E27FC236}">
                <a16:creationId xmlns:a16="http://schemas.microsoft.com/office/drawing/2014/main" id="{5D837659-4440-4A35-2AC8-F91F72CD2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04" y="3148716"/>
            <a:ext cx="3947956" cy="330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54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BD3B4-33F9-E566-7194-E2D65F523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DB414-279A-A1EC-8899-44240664E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121" y="-222161"/>
            <a:ext cx="11226788" cy="1074082"/>
          </a:xfrm>
        </p:spPr>
        <p:txBody>
          <a:bodyPr>
            <a:noAutofit/>
          </a:bodyPr>
          <a:lstStyle/>
          <a:p>
            <a:r>
              <a:rPr lang="en-US" sz="4000" dirty="0"/>
              <a:t>LESSONS LEARNT</a:t>
            </a:r>
            <a:endParaRPr lang="en-GB" sz="4000" dirty="0"/>
          </a:p>
        </p:txBody>
      </p:sp>
      <p:pic>
        <p:nvPicPr>
          <p:cNvPr id="8" name="Picture 7" descr="The image illustrates a simplified workflow diagram for managing a Git repository, showing steps such as staging, local and remote directories, and commands for adding, committing, and pushing changes.&#10;&#10;AI-generated content may be incorrect.">
            <a:extLst>
              <a:ext uri="{FF2B5EF4-FFF2-40B4-BE49-F238E27FC236}">
                <a16:creationId xmlns:a16="http://schemas.microsoft.com/office/drawing/2014/main" id="{8B907299-55E9-F3F8-F8A1-8627F0F04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945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99A74-FB71-0E40-A774-D10F5F0BF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C1AE-1890-5936-F43D-1D5A3EE20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121" y="-222161"/>
            <a:ext cx="11226788" cy="1074082"/>
          </a:xfrm>
        </p:spPr>
        <p:txBody>
          <a:bodyPr>
            <a:noAutofit/>
          </a:bodyPr>
          <a:lstStyle/>
          <a:p>
            <a:r>
              <a:rPr lang="en-US" sz="4000" dirty="0"/>
              <a:t>How to Modify from other folder to Main folder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5EF91-14B3-038C-9535-19DADA307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936" y="1309847"/>
            <a:ext cx="9987095" cy="526588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Step #1: </a:t>
            </a:r>
            <a:r>
              <a:rPr lang="en-US" dirty="0"/>
              <a:t>Make your change – Save Changes </a:t>
            </a:r>
            <a:r>
              <a:rPr lang="en-US" dirty="0" err="1"/>
              <a:t>Ctrl+S</a:t>
            </a:r>
            <a:endParaRPr lang="en-US" dirty="0"/>
          </a:p>
          <a:p>
            <a:pPr algn="l"/>
            <a:r>
              <a:rPr lang="en-US" dirty="0"/>
              <a:t>                   m = Modified </a:t>
            </a:r>
          </a:p>
          <a:p>
            <a:pPr algn="l"/>
            <a:endParaRPr lang="en-US" b="1" dirty="0"/>
          </a:p>
          <a:p>
            <a:pPr algn="l"/>
            <a:r>
              <a:rPr lang="en-US" b="1" dirty="0"/>
              <a:t>Step #2: </a:t>
            </a:r>
            <a:r>
              <a:rPr lang="en-US" b="1" dirty="0">
                <a:solidFill>
                  <a:srgbClr val="0070C0"/>
                </a:solidFill>
              </a:rPr>
              <a:t>git add .</a:t>
            </a:r>
            <a:br>
              <a:rPr lang="en-US" b="1" dirty="0"/>
            </a:br>
            <a:r>
              <a:rPr lang="en-US" b="1" dirty="0"/>
              <a:t>Step #3: </a:t>
            </a:r>
            <a:r>
              <a:rPr lang="en-US" b="1" dirty="0">
                <a:solidFill>
                  <a:srgbClr val="0070C0"/>
                </a:solidFill>
              </a:rPr>
              <a:t>git commit -m "Adding a paragraph to be more friendly“</a:t>
            </a:r>
          </a:p>
          <a:p>
            <a:pPr algn="l"/>
            <a:r>
              <a:rPr lang="en-US" b="1" dirty="0"/>
              <a:t>Step #4: </a:t>
            </a:r>
            <a:r>
              <a:rPr lang="en-US" b="1" dirty="0">
                <a:solidFill>
                  <a:srgbClr val="0070C0"/>
                </a:solidFill>
              </a:rPr>
              <a:t>git push</a:t>
            </a:r>
          </a:p>
          <a:p>
            <a:pPr algn="l"/>
            <a:r>
              <a:rPr lang="en-US" b="1" dirty="0"/>
              <a:t>Step #5: Refresh browser</a:t>
            </a:r>
          </a:p>
          <a:p>
            <a:pPr algn="l"/>
            <a:r>
              <a:rPr lang="en-US" b="1" dirty="0"/>
              <a:t>See change</a:t>
            </a:r>
            <a:endParaRPr lang="en-US" dirty="0"/>
          </a:p>
          <a:p>
            <a:pPr algn="l"/>
            <a:endParaRPr lang="en-US" dirty="0">
              <a:solidFill>
                <a:srgbClr val="0070C0"/>
              </a:solidFill>
            </a:endParaRPr>
          </a:p>
          <a:p>
            <a:pPr algn="l"/>
            <a:endParaRPr lang="en-US" dirty="0"/>
          </a:p>
        </p:txBody>
      </p:sp>
      <p:pic>
        <p:nvPicPr>
          <p:cNvPr id="5" name="Picture 4" descr="Hello, World! It's nice to meet you!&#10;&#10;AI-generated content may be incorrect.">
            <a:extLst>
              <a:ext uri="{FF2B5EF4-FFF2-40B4-BE49-F238E27FC236}">
                <a16:creationId xmlns:a16="http://schemas.microsoft.com/office/drawing/2014/main" id="{5F14427E-BE3E-9370-2D19-C5246548A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492" y="1679470"/>
            <a:ext cx="4147806" cy="1395364"/>
          </a:xfrm>
          <a:prstGeom prst="rect">
            <a:avLst/>
          </a:prstGeom>
        </p:spPr>
      </p:pic>
      <p:pic>
        <p:nvPicPr>
          <p:cNvPr id="8" name="Picture 7" descr="Add a paragraph&#10;&#10;AI-generated content may be incorrect.">
            <a:extLst>
              <a:ext uri="{FF2B5EF4-FFF2-40B4-BE49-F238E27FC236}">
                <a16:creationId xmlns:a16="http://schemas.microsoft.com/office/drawing/2014/main" id="{1A4D0B10-6A4A-FF2E-5E8F-BE29CDA0E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807" y="4363216"/>
            <a:ext cx="8836550" cy="450978"/>
          </a:xfrm>
          <a:prstGeom prst="rect">
            <a:avLst/>
          </a:prstGeom>
        </p:spPr>
      </p:pic>
      <p:pic>
        <p:nvPicPr>
          <p:cNvPr id="10" name="Picture 9" descr="It's nice to meet you!&#10;&#10;AI-generated content may be incorrect.">
            <a:extLst>
              <a:ext uri="{FF2B5EF4-FFF2-40B4-BE49-F238E27FC236}">
                <a16:creationId xmlns:a16="http://schemas.microsoft.com/office/drawing/2014/main" id="{234A5D6C-815C-700C-3B9B-D5A352D92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12" y="4914582"/>
            <a:ext cx="5569267" cy="194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22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CB2C0-FE12-DAB6-20C9-96795BD5C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37B4-D7FA-5ECC-E285-5DC261271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121" y="-222161"/>
            <a:ext cx="11226788" cy="1074082"/>
          </a:xfrm>
        </p:spPr>
        <p:txBody>
          <a:bodyPr>
            <a:noAutofit/>
          </a:bodyPr>
          <a:lstStyle/>
          <a:p>
            <a:r>
              <a:rPr lang="en-US" sz="4000" dirty="0"/>
              <a:t>HOW TO add </a:t>
            </a:r>
            <a:r>
              <a:rPr lang="en-US" sz="4000" dirty="0" err="1"/>
              <a:t>Powerpoint</a:t>
            </a:r>
            <a:r>
              <a:rPr lang="en-US" sz="4000" dirty="0"/>
              <a:t> Presentation to GitHub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A39989-DF9C-946E-2D2B-3B90EB4B5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936" y="1309847"/>
            <a:ext cx="9987095" cy="526588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Step #1: </a:t>
            </a:r>
            <a:r>
              <a:rPr lang="en-US" dirty="0"/>
              <a:t>Name a folder on your computer “Presentations”</a:t>
            </a:r>
          </a:p>
          <a:p>
            <a:pPr algn="l"/>
            <a:r>
              <a:rPr lang="en-US" b="1" dirty="0"/>
              <a:t>Step #2: </a:t>
            </a:r>
            <a:r>
              <a:rPr lang="en-US" dirty="0"/>
              <a:t>Copy the PowerPoint presentation into the folder</a:t>
            </a:r>
          </a:p>
          <a:p>
            <a:pPr algn="l"/>
            <a:r>
              <a:rPr lang="en-US" b="1" dirty="0"/>
              <a:t>Step #3: </a:t>
            </a:r>
          </a:p>
          <a:p>
            <a:pPr algn="l"/>
            <a:endParaRPr lang="en-US" dirty="0">
              <a:solidFill>
                <a:srgbClr val="0070C0"/>
              </a:solidFill>
            </a:endParaRPr>
          </a:p>
          <a:p>
            <a:pPr algn="l"/>
            <a:endParaRPr lang="en-US" dirty="0">
              <a:solidFill>
                <a:srgbClr val="0070C0"/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580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47A7B-2FD0-B1D6-9903-D1D5FF32C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AA898-1AE6-15F3-D49A-914216301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121" y="-222161"/>
            <a:ext cx="11226788" cy="1074082"/>
          </a:xfrm>
        </p:spPr>
        <p:txBody>
          <a:bodyPr>
            <a:noAutofit/>
          </a:bodyPr>
          <a:lstStyle/>
          <a:p>
            <a:r>
              <a:rPr lang="en-US" sz="4000" dirty="0"/>
              <a:t>How to Save Changes and Update Repo 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0550AC-EECE-45E2-D632-8081EB402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936" y="962109"/>
            <a:ext cx="9987095" cy="2576617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>
                <a:highlight>
                  <a:srgbClr val="FFFF00"/>
                </a:highlight>
              </a:rPr>
              <a:t>NOTICE: </a:t>
            </a:r>
            <a:r>
              <a:rPr lang="en-US" b="1" dirty="0"/>
              <a:t>There is a Black Dot in the files which need saving</a:t>
            </a:r>
            <a:br>
              <a:rPr lang="en-US" b="1" dirty="0"/>
            </a:br>
            <a:endParaRPr lang="en-US" b="1" dirty="0"/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l"/>
            <a:endParaRPr lang="en-US" dirty="0"/>
          </a:p>
          <a:p>
            <a:pPr algn="l"/>
            <a:r>
              <a:rPr lang="en-US" b="1" dirty="0"/>
              <a:t>Step #1: </a:t>
            </a:r>
            <a:r>
              <a:rPr lang="en-US" dirty="0"/>
              <a:t>Press each file In VS Code - Press Ctrl+ S or File SAVE All</a:t>
            </a:r>
          </a:p>
        </p:txBody>
      </p:sp>
      <p:pic>
        <p:nvPicPr>
          <p:cNvPr id="5" name="Picture 4" descr="The image displays a basic web page structure with an HTML file, a text file named 'practice.txt', a .gitignore file, a README file, and a simple 'Hello, World!' heading.&#10;&#10;AI-generated content may be incorrect.">
            <a:extLst>
              <a:ext uri="{FF2B5EF4-FFF2-40B4-BE49-F238E27FC236}">
                <a16:creationId xmlns:a16="http://schemas.microsoft.com/office/drawing/2014/main" id="{FEA46E60-D3BA-E345-9588-6DB691958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47" y="1416663"/>
            <a:ext cx="8229600" cy="143698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The image displays a file structure of a Git repository with a welcome message, a .gitignore file, and a README.md file, including a practice.txt file.&#10;&#10;AI-generated content may be incorrect.">
            <a:extLst>
              <a:ext uri="{FF2B5EF4-FFF2-40B4-BE49-F238E27FC236}">
                <a16:creationId xmlns:a16="http://schemas.microsoft.com/office/drawing/2014/main" id="{4806C28D-09B1-C5E7-6BC6-3683FEFA4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36" y="3467308"/>
            <a:ext cx="8385548" cy="107408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9E8D234B-9F41-E4A3-E8B1-67FFF79B471E}"/>
              </a:ext>
            </a:extLst>
          </p:cNvPr>
          <p:cNvSpPr txBox="1">
            <a:spLocks/>
          </p:cNvSpPr>
          <p:nvPr/>
        </p:nvSpPr>
        <p:spPr>
          <a:xfrm>
            <a:off x="424423" y="4699222"/>
            <a:ext cx="9987095" cy="2576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Step #2: </a:t>
            </a:r>
            <a:r>
              <a:rPr lang="en-GB" dirty="0">
                <a:solidFill>
                  <a:srgbClr val="0070C0"/>
                </a:solidFill>
              </a:rPr>
              <a:t>git status</a:t>
            </a:r>
          </a:p>
          <a:p>
            <a:pPr algn="l"/>
            <a:r>
              <a:rPr lang="en-GB" b="1" dirty="0"/>
              <a:t>Step #3: </a:t>
            </a:r>
            <a:r>
              <a:rPr lang="en-GB" dirty="0">
                <a:solidFill>
                  <a:srgbClr val="0070C0"/>
                </a:solidFill>
              </a:rPr>
              <a:t>git add .</a:t>
            </a:r>
          </a:p>
          <a:p>
            <a:pPr algn="l"/>
            <a:r>
              <a:rPr lang="en-GB" b="1" dirty="0"/>
              <a:t>Step #4: </a:t>
            </a:r>
            <a:r>
              <a:rPr lang="en-GB" dirty="0">
                <a:solidFill>
                  <a:srgbClr val="0070C0"/>
                </a:solidFill>
              </a:rPr>
              <a:t>git commit -m "Update website files“</a:t>
            </a:r>
          </a:p>
          <a:p>
            <a:pPr algn="l"/>
            <a:r>
              <a:rPr lang="en-GB" b="1" dirty="0"/>
              <a:t>Step #5: </a:t>
            </a:r>
            <a:r>
              <a:rPr lang="en-GB" dirty="0">
                <a:solidFill>
                  <a:srgbClr val="0070C0"/>
                </a:solidFill>
              </a:rPr>
              <a:t>git push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64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1260</Words>
  <Application>Microsoft Office PowerPoint</Application>
  <PresentationFormat>Widescreen</PresentationFormat>
  <Paragraphs>157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How to Create a Working Directory</vt:lpstr>
      <vt:lpstr>How to Initialize a Local Repository</vt:lpstr>
      <vt:lpstr>How to Add files to Staging Area</vt:lpstr>
      <vt:lpstr>How to Make a Commit</vt:lpstr>
      <vt:lpstr>How to see what is Committed?</vt:lpstr>
      <vt:lpstr>How to Clear the Window in Visual Studio</vt:lpstr>
      <vt:lpstr>How to move from Local Repository to the Remote Repository</vt:lpstr>
      <vt:lpstr>How to PUSH to Main Repository</vt:lpstr>
      <vt:lpstr>How to move PUSH to Sub Branches</vt:lpstr>
      <vt:lpstr>How to Create and Link a Remote Respository</vt:lpstr>
      <vt:lpstr>How to Add A ReadMe File</vt:lpstr>
      <vt:lpstr>How to Unstage a File</vt:lpstr>
      <vt:lpstr>How to Ignore a File</vt:lpstr>
      <vt:lpstr>How to Show Hidden Files</vt:lpstr>
      <vt:lpstr>How to Delete Previous Tracked Files</vt:lpstr>
      <vt:lpstr>How to Create a New Folder and Run the Terminal</vt:lpstr>
      <vt:lpstr>How to Clone Remote Repository</vt:lpstr>
      <vt:lpstr>How to Pull New Data from Repository</vt:lpstr>
      <vt:lpstr>LESSONS LEARNT</vt:lpstr>
      <vt:lpstr>How to Modify from other folder to Main folder</vt:lpstr>
      <vt:lpstr>HOW TO add Powerpoint Presentation to GitHub</vt:lpstr>
      <vt:lpstr>How to Save Changes and Update Repo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Timon MATI Trader</dc:creator>
  <cp:lastModifiedBy>Timon MATI Trader</cp:lastModifiedBy>
  <cp:revision>50</cp:revision>
  <dcterms:created xsi:type="dcterms:W3CDTF">2026-09-16T08:07:58Z</dcterms:created>
  <dcterms:modified xsi:type="dcterms:W3CDTF">2026-09-16T12:59:20Z</dcterms:modified>
</cp:coreProperties>
</file>